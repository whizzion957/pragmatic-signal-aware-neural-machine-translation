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1030" autoAdjust="0"/>
  </p:normalViewPr>
  <p:slideViewPr>
    <p:cSldViewPr snapToGrid="0" snapToObjects="1">
      <p:cViewPr varScale="1">
        <p:scale>
          <a:sx n="83" d="100"/>
          <a:sy n="83" d="100"/>
        </p:scale>
        <p:origin x="14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22880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Why does machine translation still struggle so much with how humans actually talk?</a:t>
            </a:r>
          </a:p>
          <a:p>
            <a:r>
              <a:rPr lang="en-US" sz="1200" b="0" i="0" kern="1200" dirty="0">
                <a:solidFill>
                  <a:schemeClr val="tx1"/>
                </a:solidFill>
                <a:effectLst/>
                <a:latin typeface="+mn-lt"/>
                <a:ea typeface="+mn-ea"/>
                <a:cs typeface="+mn-cs"/>
              </a:rPr>
              <a:t>The fundamental issue is that current models are trained on </a:t>
            </a:r>
            <a:r>
              <a:rPr lang="en-US" sz="1200" b="0" i="1" kern="1200" dirty="0">
                <a:solidFill>
                  <a:schemeClr val="tx1"/>
                </a:solidFill>
                <a:effectLst/>
                <a:latin typeface="+mn-lt"/>
                <a:ea typeface="+mn-ea"/>
                <a:cs typeface="+mn-cs"/>
              </a:rPr>
              <a:t>literal</a:t>
            </a:r>
            <a:r>
              <a:rPr lang="en-US" sz="1200" b="0" i="0" kern="1200" dirty="0">
                <a:solidFill>
                  <a:schemeClr val="tx1"/>
                </a:solidFill>
                <a:effectLst/>
                <a:latin typeface="+mn-lt"/>
                <a:ea typeface="+mn-ea"/>
                <a:cs typeface="+mn-cs"/>
              </a:rPr>
              <a:t> sentence pairs. They are excellent at mapping dictionary definitions and grammatical structures from one language to another. But they have no understanding of </a:t>
            </a:r>
            <a:r>
              <a:rPr lang="en-US" sz="1200" b="1" i="0" kern="1200" dirty="0">
                <a:solidFill>
                  <a:schemeClr val="tx1"/>
                </a:solidFill>
                <a:effectLst/>
                <a:latin typeface="+mn-lt"/>
                <a:ea typeface="+mn-ea"/>
                <a:cs typeface="+mn-cs"/>
              </a:rPr>
              <a:t>pragmatic intent</a:t>
            </a:r>
            <a:r>
              <a:rPr lang="en-US" sz="1200" b="0" i="0" kern="1200" dirty="0">
                <a:solidFill>
                  <a:schemeClr val="tx1"/>
                </a:solidFill>
                <a:effectLst/>
                <a:latin typeface="+mn-lt"/>
                <a:ea typeface="+mn-ea"/>
                <a:cs typeface="+mn-cs"/>
              </a:rPr>
              <a:t>—the unspoken layer of communication where tone, sarcasm, and implied meaning live.</a:t>
            </a:r>
          </a:p>
          <a:p>
            <a:r>
              <a:rPr lang="en-US" sz="1200" b="0" i="0" kern="1200" dirty="0">
                <a:solidFill>
                  <a:schemeClr val="tx1"/>
                </a:solidFill>
                <a:effectLst/>
                <a:latin typeface="+mn-lt"/>
                <a:ea typeface="+mn-ea"/>
                <a:cs typeface="+mn-cs"/>
              </a:rPr>
              <a:t>Sarcasm relies entirely on the contrast between what we say and what we mean. Look at the example on the slide: </a:t>
            </a:r>
            <a:r>
              <a:rPr lang="en-US" sz="1200" b="0" i="1" kern="1200" dirty="0">
                <a:solidFill>
                  <a:schemeClr val="tx1"/>
                </a:solidFill>
                <a:effectLst/>
                <a:latin typeface="+mn-lt"/>
                <a:ea typeface="+mn-ea"/>
                <a:cs typeface="+mn-cs"/>
              </a:rPr>
              <a:t>'I just love waiting in queues.'</a:t>
            </a:r>
            <a:r>
              <a:rPr lang="en-US" sz="1200" b="0" i="0" kern="1200" dirty="0">
                <a:solidFill>
                  <a:schemeClr val="tx1"/>
                </a:solidFill>
                <a:effectLst/>
                <a:latin typeface="+mn-lt"/>
                <a:ea typeface="+mn-ea"/>
                <a:cs typeface="+mn-cs"/>
              </a:rPr>
              <a:t> A standard translation model reads the word 'love' and translates it as a genuinely positive statement. It completely misses the frustration beneath the surface."</a:t>
            </a:r>
          </a:p>
          <a:p>
            <a:r>
              <a:rPr lang="en-US" sz="1200" b="1" i="0" kern="1200" dirty="0">
                <a:solidFill>
                  <a:schemeClr val="tx1"/>
                </a:solidFill>
                <a:effectLst/>
                <a:latin typeface="+mn-lt"/>
                <a:ea typeface="+mn-ea"/>
                <a:cs typeface="+mn-cs"/>
              </a:rPr>
              <a:t>[0:45 - Moving to the Right Side: Why SOTA Models Fail]</a:t>
            </a:r>
            <a:r>
              <a:rPr lang="en-US" sz="1200" b="0" i="0" kern="1200" dirty="0">
                <a:solidFill>
                  <a:schemeClr val="tx1"/>
                </a:solidFill>
                <a:effectLst/>
                <a:latin typeface="+mn-lt"/>
                <a:ea typeface="+mn-ea"/>
                <a:cs typeface="+mn-cs"/>
              </a:rPr>
              <a:t> "You might wonder, why do even state-of-the-art models fail at this? There are four main reasons.</a:t>
            </a:r>
          </a:p>
          <a:p>
            <a:r>
              <a:rPr lang="en-US" sz="1200" b="0" i="0" kern="1200" dirty="0">
                <a:solidFill>
                  <a:schemeClr val="tx1"/>
                </a:solidFill>
                <a:effectLst/>
                <a:latin typeface="+mn-lt"/>
                <a:ea typeface="+mn-ea"/>
                <a:cs typeface="+mn-cs"/>
              </a:rPr>
              <a:t>First, </a:t>
            </a:r>
            <a:r>
              <a:rPr lang="en-US" sz="1200" b="1" i="0" kern="1200" dirty="0">
                <a:solidFill>
                  <a:schemeClr val="tx1"/>
                </a:solidFill>
                <a:effectLst/>
                <a:latin typeface="+mn-lt"/>
                <a:ea typeface="+mn-ea"/>
                <a:cs typeface="+mn-cs"/>
              </a:rPr>
              <a:t>training data bias</a:t>
            </a:r>
            <a:r>
              <a:rPr lang="en-US" sz="1200" b="0" i="0" kern="1200" dirty="0">
                <a:solidFill>
                  <a:schemeClr val="tx1"/>
                </a:solidFill>
                <a:effectLst/>
                <a:latin typeface="+mn-lt"/>
                <a:ea typeface="+mn-ea"/>
                <a:cs typeface="+mn-cs"/>
              </a:rPr>
              <a:t>. The massive parallel-text datasets used to train models like </a:t>
            </a:r>
            <a:r>
              <a:rPr lang="en-US" sz="1200" b="0" i="0" kern="1200" dirty="0" err="1">
                <a:solidFill>
                  <a:schemeClr val="tx1"/>
                </a:solidFill>
                <a:effectLst/>
                <a:latin typeface="+mn-lt"/>
                <a:ea typeface="+mn-ea"/>
                <a:cs typeface="+mn-cs"/>
              </a:rPr>
              <a:t>MarianMT</a:t>
            </a:r>
            <a:r>
              <a:rPr lang="en-US" sz="1200" b="0" i="0" kern="1200" dirty="0">
                <a:solidFill>
                  <a:schemeClr val="tx1"/>
                </a:solidFill>
                <a:effectLst/>
                <a:latin typeface="+mn-lt"/>
                <a:ea typeface="+mn-ea"/>
                <a:cs typeface="+mn-cs"/>
              </a:rPr>
              <a:t> or Google Translate, such as the IITB corpus, consist of news articles, Wikipedia, and government texts. They are overwhelmingly formal and literal. These models simply aren't exposed to sarcasm during training.</a:t>
            </a:r>
          </a:p>
          <a:p>
            <a:r>
              <a:rPr lang="en-US" sz="1200" b="0" i="0" kern="1200" dirty="0">
                <a:solidFill>
                  <a:schemeClr val="tx1"/>
                </a:solidFill>
                <a:effectLst/>
                <a:latin typeface="+mn-lt"/>
                <a:ea typeface="+mn-ea"/>
                <a:cs typeface="+mn-cs"/>
              </a:rPr>
              <a:t>Second, there is </a:t>
            </a:r>
            <a:r>
              <a:rPr lang="en-US" sz="1200" b="1" i="0" kern="1200" dirty="0">
                <a:solidFill>
                  <a:schemeClr val="tx1"/>
                </a:solidFill>
                <a:effectLst/>
                <a:latin typeface="+mn-lt"/>
                <a:ea typeface="+mn-ea"/>
                <a:cs typeface="+mn-cs"/>
              </a:rPr>
              <a:t>no pragmatic objective</a:t>
            </a:r>
            <a:r>
              <a:rPr lang="en-US" sz="1200" b="0" i="0" kern="1200" dirty="0">
                <a:solidFill>
                  <a:schemeClr val="tx1"/>
                </a:solidFill>
                <a:effectLst/>
                <a:latin typeface="+mn-lt"/>
                <a:ea typeface="+mn-ea"/>
                <a:cs typeface="+mn-cs"/>
              </a:rPr>
              <a:t>. Standard loss functions reward word-level accuracy. If the model translates the words correctly, it gets a good score, even if it completely flipped the emotional tone. Sarcasm survival is never directly rewarded.</a:t>
            </a:r>
          </a:p>
          <a:p>
            <a:r>
              <a:rPr lang="en-US" sz="1200" b="0" i="0" kern="1200" dirty="0">
                <a:solidFill>
                  <a:schemeClr val="tx1"/>
                </a:solidFill>
                <a:effectLst/>
                <a:latin typeface="+mn-lt"/>
                <a:ea typeface="+mn-ea"/>
                <a:cs typeface="+mn-cs"/>
              </a:rPr>
              <a:t>Third, </a:t>
            </a:r>
            <a:r>
              <a:rPr lang="en-US" sz="1200" b="1" i="0" kern="1200" dirty="0">
                <a:solidFill>
                  <a:schemeClr val="tx1"/>
                </a:solidFill>
                <a:effectLst/>
                <a:latin typeface="+mn-lt"/>
                <a:ea typeface="+mn-ea"/>
                <a:cs typeface="+mn-cs"/>
              </a:rPr>
              <a:t>contextual cues are absent</a:t>
            </a:r>
            <a:r>
              <a:rPr lang="en-US" sz="1200" b="0" i="0" kern="1200" dirty="0">
                <a:solidFill>
                  <a:schemeClr val="tx1"/>
                </a:solidFill>
                <a:effectLst/>
                <a:latin typeface="+mn-lt"/>
                <a:ea typeface="+mn-ea"/>
                <a:cs typeface="+mn-cs"/>
              </a:rPr>
              <a:t>. Sarcasm on social media relies heavily on hashtags, emojis, and cultural norms. Standard translation pipelines usually strip these out or ignore their pragmatic weight.</a:t>
            </a:r>
          </a:p>
          <a:p>
            <a:r>
              <a:rPr lang="en-US" sz="1200" b="0" i="0" kern="1200" dirty="0">
                <a:solidFill>
                  <a:schemeClr val="tx1"/>
                </a:solidFill>
                <a:effectLst/>
                <a:latin typeface="+mn-lt"/>
                <a:ea typeface="+mn-ea"/>
                <a:cs typeface="+mn-cs"/>
              </a:rPr>
              <a:t>Finally, </a:t>
            </a:r>
            <a:r>
              <a:rPr lang="en-US" sz="1200" b="1" i="0" kern="1200" dirty="0">
                <a:solidFill>
                  <a:schemeClr val="tx1"/>
                </a:solidFill>
                <a:effectLst/>
                <a:latin typeface="+mn-lt"/>
                <a:ea typeface="+mn-ea"/>
                <a:cs typeface="+mn-cs"/>
              </a:rPr>
              <a:t>scale does not equal pragmatic awareness</a:t>
            </a:r>
            <a:r>
              <a:rPr lang="en-US" sz="1200" b="0" i="0" kern="1200" dirty="0">
                <a:solidFill>
                  <a:schemeClr val="tx1"/>
                </a:solidFill>
                <a:effectLst/>
                <a:latin typeface="+mn-lt"/>
                <a:ea typeface="+mn-ea"/>
                <a:cs typeface="+mn-cs"/>
              </a:rPr>
              <a:t>. We often think massive Large Language Models like GPT-4 or </a:t>
            </a:r>
            <a:r>
              <a:rPr lang="en-US" sz="1200" b="0" i="0" kern="1200" dirty="0" err="1">
                <a:solidFill>
                  <a:schemeClr val="tx1"/>
                </a:solidFill>
                <a:effectLst/>
                <a:latin typeface="+mn-lt"/>
                <a:ea typeface="+mn-ea"/>
                <a:cs typeface="+mn-cs"/>
              </a:rPr>
              <a:t>LLaMA</a:t>
            </a:r>
            <a:r>
              <a:rPr lang="en-US" sz="1200" b="0" i="0" kern="1200" dirty="0">
                <a:solidFill>
                  <a:schemeClr val="tx1"/>
                </a:solidFill>
                <a:effectLst/>
                <a:latin typeface="+mn-lt"/>
                <a:ea typeface="+mn-ea"/>
                <a:cs typeface="+mn-cs"/>
              </a:rPr>
              <a:t> solve everything. While they </a:t>
            </a:r>
            <a:r>
              <a:rPr lang="en-US" sz="1200" b="0" i="1" kern="1200" dirty="0">
                <a:solidFill>
                  <a:schemeClr val="tx1"/>
                </a:solidFill>
                <a:effectLst/>
                <a:latin typeface="+mn-lt"/>
                <a:ea typeface="+mn-ea"/>
                <a:cs typeface="+mn-cs"/>
              </a:rPr>
              <a:t>can</a:t>
            </a:r>
            <a:r>
              <a:rPr lang="en-US" sz="1200" b="0" i="0" kern="1200" dirty="0">
                <a:solidFill>
                  <a:schemeClr val="tx1"/>
                </a:solidFill>
                <a:effectLst/>
                <a:latin typeface="+mn-lt"/>
                <a:ea typeface="+mn-ea"/>
                <a:cs typeface="+mn-cs"/>
              </a:rPr>
              <a:t> paraphrase sarcasm, they are inconsistent without explicit fine-tuning. Furthermore, running a 70-billion parameter model just to translate tweets is prohibitively expensive and slow compared to dedicated translation models."</a:t>
            </a:r>
          </a:p>
          <a:p>
            <a:r>
              <a:rPr lang="en-US" sz="1200" b="1" i="0" kern="1200" dirty="0">
                <a:solidFill>
                  <a:schemeClr val="tx1"/>
                </a:solidFill>
                <a:effectLst/>
                <a:latin typeface="+mn-lt"/>
                <a:ea typeface="+mn-ea"/>
                <a:cs typeface="+mn-cs"/>
              </a:rPr>
              <a:t>[1:45 - Conclusion/Transition]</a:t>
            </a:r>
            <a:r>
              <a:rPr lang="en-US" sz="1200" b="0" i="0" kern="1200" dirty="0">
                <a:solidFill>
                  <a:schemeClr val="tx1"/>
                </a:solidFill>
                <a:effectLst/>
                <a:latin typeface="+mn-lt"/>
                <a:ea typeface="+mn-ea"/>
                <a:cs typeface="+mn-cs"/>
              </a:rPr>
              <a:t> "In short, we are using models trained on formal text, evaluated purely on literal word-matching, to translate highly nuanced social media content. This is the gap our project addresses. Next, we’ll look at how we built a multi-stage pipeline to solve this."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[0:00 - Introduction &amp; Standard NMT]</a:t>
            </a:r>
            <a:r>
              <a:rPr lang="en-US" sz="1200" b="0" i="0" kern="1200" dirty="0">
                <a:solidFill>
                  <a:schemeClr val="tx1"/>
                </a:solidFill>
                <a:effectLst/>
                <a:latin typeface="+mn-lt"/>
                <a:ea typeface="+mn-ea"/>
                <a:cs typeface="+mn-cs"/>
              </a:rPr>
              <a:t> "Now that we understand the problem, let's look at how the industry currently attempts to handle translation, and where these solutions fall short.</a:t>
            </a:r>
          </a:p>
          <a:p>
            <a:r>
              <a:rPr lang="en-US" sz="1200" b="0" i="0" kern="1200" dirty="0">
                <a:solidFill>
                  <a:schemeClr val="tx1"/>
                </a:solidFill>
                <a:effectLst/>
                <a:latin typeface="+mn-lt"/>
                <a:ea typeface="+mn-ea"/>
                <a:cs typeface="+mn-cs"/>
              </a:rPr>
              <a:t>Starting at the top, we have </a:t>
            </a:r>
            <a:r>
              <a:rPr lang="en-US" sz="1200" b="1" i="0" kern="1200" dirty="0">
                <a:solidFill>
                  <a:schemeClr val="tx1"/>
                </a:solidFill>
                <a:effectLst/>
                <a:latin typeface="+mn-lt"/>
                <a:ea typeface="+mn-ea"/>
                <a:cs typeface="+mn-cs"/>
              </a:rPr>
              <a:t>Standard Neural Machine Translation</a:t>
            </a:r>
            <a:r>
              <a:rPr lang="en-US" sz="1200" b="0" i="0" kern="1200" dirty="0">
                <a:solidFill>
                  <a:schemeClr val="tx1"/>
                </a:solidFill>
                <a:effectLst/>
                <a:latin typeface="+mn-lt"/>
                <a:ea typeface="+mn-ea"/>
                <a:cs typeface="+mn-cs"/>
              </a:rPr>
              <a:t>—the architecture behind Google Translate or baseline </a:t>
            </a:r>
            <a:r>
              <a:rPr lang="en-US" sz="1200" b="0" i="0" kern="1200" dirty="0" err="1">
                <a:solidFill>
                  <a:schemeClr val="tx1"/>
                </a:solidFill>
                <a:effectLst/>
                <a:latin typeface="+mn-lt"/>
                <a:ea typeface="+mn-ea"/>
                <a:cs typeface="+mn-cs"/>
              </a:rPr>
              <a:t>MarianMT</a:t>
            </a:r>
            <a:r>
              <a:rPr lang="en-US" sz="1200" b="0" i="0" kern="1200" dirty="0">
                <a:solidFill>
                  <a:schemeClr val="tx1"/>
                </a:solidFill>
                <a:effectLst/>
                <a:latin typeface="+mn-lt"/>
                <a:ea typeface="+mn-ea"/>
                <a:cs typeface="+mn-cs"/>
              </a:rPr>
              <a:t>. These models use an encoder-decoder architecture to translate words and grammar perfectly. The critical gap is that they have zero awareness of pragmatic signals. If an English speaker is sarcastic, these models map the words identically to literal text, which routinely inverts the sentiment and destroys the intent entirely."</a:t>
            </a:r>
          </a:p>
          <a:p>
            <a:r>
              <a:rPr lang="en-US" sz="1200" b="1" i="0" kern="1200" dirty="0">
                <a:solidFill>
                  <a:schemeClr val="tx1"/>
                </a:solidFill>
                <a:effectLst/>
                <a:latin typeface="+mn-lt"/>
                <a:ea typeface="+mn-ea"/>
                <a:cs typeface="+mn-cs"/>
              </a:rPr>
              <a:t>[0:40 - Sentiment-Aware NMT]</a:t>
            </a:r>
            <a:r>
              <a:rPr lang="en-US" sz="1200" b="0" i="0" kern="1200" dirty="0">
                <a:solidFill>
                  <a:schemeClr val="tx1"/>
                </a:solidFill>
                <a:effectLst/>
                <a:latin typeface="+mn-lt"/>
                <a:ea typeface="+mn-ea"/>
                <a:cs typeface="+mn-cs"/>
              </a:rPr>
              <a:t> "To fix this, some researchers proposed </a:t>
            </a:r>
            <a:r>
              <a:rPr lang="en-US" sz="1200" b="1" i="0" kern="1200" dirty="0">
                <a:solidFill>
                  <a:schemeClr val="tx1"/>
                </a:solidFill>
                <a:effectLst/>
                <a:latin typeface="+mn-lt"/>
                <a:ea typeface="+mn-ea"/>
                <a:cs typeface="+mn-cs"/>
              </a:rPr>
              <a:t>Sentiment-Aware NMT</a:t>
            </a:r>
            <a:r>
              <a:rPr lang="en-US" sz="1200" b="0" i="0" kern="1200" dirty="0">
                <a:solidFill>
                  <a:schemeClr val="tx1"/>
                </a:solidFill>
                <a:effectLst/>
                <a:latin typeface="+mn-lt"/>
                <a:ea typeface="+mn-ea"/>
                <a:cs typeface="+mn-cs"/>
              </a:rPr>
              <a:t>. This involves appending a simple positive or negative label to guide the translation's tone. But this creates a paradox with sarcasm. Sarcasm often uses positive words (like </a:t>
            </a:r>
            <a:r>
              <a:rPr lang="en-US" sz="1200" b="0" i="1" kern="1200" dirty="0">
                <a:solidFill>
                  <a:schemeClr val="tx1"/>
                </a:solidFill>
                <a:effectLst/>
                <a:latin typeface="+mn-lt"/>
                <a:ea typeface="+mn-ea"/>
                <a:cs typeface="+mn-cs"/>
              </a:rPr>
              <a:t>'Great! I love this!'</a:t>
            </a:r>
            <a:r>
              <a:rPr lang="en-US" sz="1200" b="0" i="0" kern="1200" dirty="0">
                <a:solidFill>
                  <a:schemeClr val="tx1"/>
                </a:solidFill>
                <a:effectLst/>
                <a:latin typeface="+mn-lt"/>
                <a:ea typeface="+mn-ea"/>
                <a:cs typeface="+mn-cs"/>
              </a:rPr>
              <a:t>) to express a negative feeling. A simple sentiment label gets confused—it cannot distinguish surface-level positive text from a genuinely negative pragmatic intent. The labels end up contradicting each other."</a:t>
            </a:r>
          </a:p>
          <a:p>
            <a:r>
              <a:rPr lang="en-US" sz="1200" b="1" i="0" kern="1200" dirty="0">
                <a:solidFill>
                  <a:schemeClr val="tx1"/>
                </a:solidFill>
                <a:effectLst/>
                <a:latin typeface="+mn-lt"/>
                <a:ea typeface="+mn-ea"/>
                <a:cs typeface="+mn-cs"/>
              </a:rPr>
              <a:t>[1:10 - Multilingual LLMs &amp; Large Prompted Models]</a:t>
            </a:r>
            <a:r>
              <a:rPr lang="en-US" sz="1200" b="0" i="0" kern="1200" dirty="0">
                <a:solidFill>
                  <a:schemeClr val="tx1"/>
                </a:solidFill>
                <a:effectLst/>
                <a:latin typeface="+mn-lt"/>
                <a:ea typeface="+mn-ea"/>
                <a:cs typeface="+mn-cs"/>
              </a:rPr>
              <a:t> "What about massive models? </a:t>
            </a:r>
            <a:r>
              <a:rPr lang="en-US" sz="1200" b="1" i="0" kern="1200" dirty="0">
                <a:solidFill>
                  <a:schemeClr val="tx1"/>
                </a:solidFill>
                <a:effectLst/>
                <a:latin typeface="+mn-lt"/>
                <a:ea typeface="+mn-ea"/>
                <a:cs typeface="+mn-cs"/>
              </a:rPr>
              <a:t>Multilingual LLMs</a:t>
            </a:r>
            <a:r>
              <a:rPr lang="en-US" sz="1200" b="0" i="0" kern="1200" dirty="0">
                <a:solidFill>
                  <a:schemeClr val="tx1"/>
                </a:solidFill>
                <a:effectLst/>
                <a:latin typeface="+mn-lt"/>
                <a:ea typeface="+mn-ea"/>
                <a:cs typeface="+mn-cs"/>
              </a:rPr>
              <a:t> like </a:t>
            </a:r>
            <a:r>
              <a:rPr lang="en-US" sz="1200" b="0" i="0" kern="1200" dirty="0" err="1">
                <a:solidFill>
                  <a:schemeClr val="tx1"/>
                </a:solidFill>
                <a:effectLst/>
                <a:latin typeface="+mn-lt"/>
                <a:ea typeface="+mn-ea"/>
                <a:cs typeface="+mn-cs"/>
              </a:rPr>
              <a:t>mBART</a:t>
            </a:r>
            <a:r>
              <a:rPr lang="en-US" sz="1200" b="0" i="0" kern="1200" dirty="0">
                <a:solidFill>
                  <a:schemeClr val="tx1"/>
                </a:solidFill>
                <a:effectLst/>
                <a:latin typeface="+mn-lt"/>
                <a:ea typeface="+mn-ea"/>
                <a:cs typeface="+mn-cs"/>
              </a:rPr>
              <a:t> or NLLB are trained across dozens of languages. While their zero-shot capabilities are strong, they still lack explicit pragmatic conditioning. They aren't trained on sarcastic parallel data, so they have no mechanism to reliably signal or preserve it.</a:t>
            </a:r>
          </a:p>
          <a:p>
            <a:r>
              <a:rPr lang="en-US" sz="1200" b="0" i="0" kern="1200" dirty="0">
                <a:solidFill>
                  <a:schemeClr val="tx1"/>
                </a:solidFill>
                <a:effectLst/>
                <a:latin typeface="+mn-lt"/>
                <a:ea typeface="+mn-ea"/>
                <a:cs typeface="+mn-cs"/>
              </a:rPr>
              <a:t>And then there are instruct-models like </a:t>
            </a:r>
            <a:r>
              <a:rPr lang="en-US" sz="1200" b="1" i="0" kern="1200" dirty="0">
                <a:solidFill>
                  <a:schemeClr val="tx1"/>
                </a:solidFill>
                <a:effectLst/>
                <a:latin typeface="+mn-lt"/>
                <a:ea typeface="+mn-ea"/>
                <a:cs typeface="+mn-cs"/>
              </a:rPr>
              <a:t>GPT-4 and </a:t>
            </a:r>
            <a:r>
              <a:rPr lang="en-US" sz="1200" b="1" i="0" kern="1200" dirty="0" err="1">
                <a:solidFill>
                  <a:schemeClr val="tx1"/>
                </a:solidFill>
                <a:effectLst/>
                <a:latin typeface="+mn-lt"/>
                <a:ea typeface="+mn-ea"/>
                <a:cs typeface="+mn-cs"/>
              </a:rPr>
              <a:t>LLaMA</a:t>
            </a:r>
            <a:r>
              <a:rPr lang="en-US" sz="1200" b="0" i="0" kern="1200" dirty="0">
                <a:solidFill>
                  <a:schemeClr val="tx1"/>
                </a:solidFill>
                <a:effectLst/>
                <a:latin typeface="+mn-lt"/>
                <a:ea typeface="+mn-ea"/>
                <a:cs typeface="+mn-cs"/>
              </a:rPr>
              <a:t>. You </a:t>
            </a:r>
            <a:r>
              <a:rPr lang="en-US" sz="1200" b="0" i="1" kern="1200" dirty="0">
                <a:solidFill>
                  <a:schemeClr val="tx1"/>
                </a:solidFill>
                <a:effectLst/>
                <a:latin typeface="+mn-lt"/>
                <a:ea typeface="+mn-ea"/>
                <a:cs typeface="+mn-cs"/>
              </a:rPr>
              <a:t>can</a:t>
            </a:r>
            <a:r>
              <a:rPr lang="en-US" sz="1200" b="0" i="0" kern="1200" dirty="0">
                <a:solidFill>
                  <a:schemeClr val="tx1"/>
                </a:solidFill>
                <a:effectLst/>
                <a:latin typeface="+mn-lt"/>
                <a:ea typeface="+mn-ea"/>
                <a:cs typeface="+mn-cs"/>
              </a:rPr>
              <a:t> prompt them to preserve sarcasm, but there are massive drawbacks. They are inconsistent without rigorous fine-tuning, they cannot run on commodity hardware, and their high cost makes them prohibitive for large-scale, dedicated translation pipelines."</a:t>
            </a:r>
          </a:p>
          <a:p>
            <a:r>
              <a:rPr lang="en-US" sz="1200" b="1" i="0" kern="1200" dirty="0">
                <a:solidFill>
                  <a:schemeClr val="tx1"/>
                </a:solidFill>
                <a:effectLst/>
                <a:latin typeface="+mn-lt"/>
                <a:ea typeface="+mn-ea"/>
                <a:cs typeface="+mn-cs"/>
              </a:rPr>
              <a:t>[1:45 - The Final Gap &amp; Transition]</a:t>
            </a:r>
            <a:r>
              <a:rPr lang="en-US" sz="1200" b="0" i="0" kern="1200" dirty="0">
                <a:solidFill>
                  <a:schemeClr val="tx1"/>
                </a:solidFill>
                <a:effectLst/>
                <a:latin typeface="+mn-lt"/>
                <a:ea typeface="+mn-ea"/>
                <a:cs typeface="+mn-cs"/>
              </a:rPr>
              <a:t> "This brings us to the core gap driving our research: Across all these approaches, no existing system explicitly conditions its translation on detected sarcasm, and none of them directly </a:t>
            </a:r>
            <a:r>
              <a:rPr lang="en-US" sz="1200" b="0" i="0" kern="1200" dirty="0" err="1">
                <a:solidFill>
                  <a:schemeClr val="tx1"/>
                </a:solidFill>
                <a:effectLst/>
                <a:latin typeface="+mn-lt"/>
                <a:ea typeface="+mn-ea"/>
                <a:cs typeface="+mn-cs"/>
              </a:rPr>
              <a:t>optimise</a:t>
            </a:r>
            <a:r>
              <a:rPr lang="en-US" sz="1200" b="0" i="0" kern="1200" dirty="0">
                <a:solidFill>
                  <a:schemeClr val="tx1"/>
                </a:solidFill>
                <a:effectLst/>
                <a:latin typeface="+mn-lt"/>
                <a:ea typeface="+mn-ea"/>
                <a:cs typeface="+mn-cs"/>
              </a:rPr>
              <a:t> for pragmatic preservation during training. Next, we will discuss how our multi-stage pipeline finally bridges this gap."</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[0:00 - Introduction to the Pipeline]</a:t>
            </a:r>
            <a:r>
              <a:rPr lang="en-US" sz="1200" b="0" i="0" kern="1200" dirty="0">
                <a:solidFill>
                  <a:schemeClr val="tx1"/>
                </a:solidFill>
                <a:effectLst/>
                <a:latin typeface="+mn-lt"/>
                <a:ea typeface="+mn-ea"/>
                <a:cs typeface="+mn-cs"/>
              </a:rPr>
              <a:t> "To bridge the gaps we just discussed, we designed a multi-stage pipeline. Instead of relying on a massive, general-purpose LLM, we implemented four novel techniques on a highly efficient, accessible model—</a:t>
            </a:r>
            <a:r>
              <a:rPr lang="en-US" sz="1200" b="0" i="0" kern="1200" dirty="0" err="1">
                <a:solidFill>
                  <a:schemeClr val="tx1"/>
                </a:solidFill>
                <a:effectLst/>
                <a:latin typeface="+mn-lt"/>
                <a:ea typeface="+mn-ea"/>
                <a:cs typeface="+mn-cs"/>
              </a:rPr>
              <a:t>MarianMT</a:t>
            </a:r>
            <a:r>
              <a:rPr lang="en-US" sz="1200" b="0" i="0" kern="1200" dirty="0">
                <a:solidFill>
                  <a:schemeClr val="tx1"/>
                </a:solidFill>
                <a:effectLst/>
                <a:latin typeface="+mn-lt"/>
                <a:ea typeface="+mn-ea"/>
                <a:cs typeface="+mn-cs"/>
              </a:rPr>
              <a:t>. This entire pipeline trains in under an hour on a free Google </a:t>
            </a:r>
            <a:r>
              <a:rPr lang="en-US" sz="1200" b="0" i="0" kern="1200" dirty="0" err="1">
                <a:solidFill>
                  <a:schemeClr val="tx1"/>
                </a:solidFill>
                <a:effectLst/>
                <a:latin typeface="+mn-lt"/>
                <a:ea typeface="+mn-ea"/>
                <a:cs typeface="+mn-cs"/>
              </a:rPr>
              <a:t>Colab</a:t>
            </a:r>
            <a:r>
              <a:rPr lang="en-US" sz="1200" b="0" i="0" kern="1200" dirty="0">
                <a:solidFill>
                  <a:schemeClr val="tx1"/>
                </a:solidFill>
                <a:effectLst/>
                <a:latin typeface="+mn-lt"/>
                <a:ea typeface="+mn-ea"/>
                <a:cs typeface="+mn-cs"/>
              </a:rPr>
              <a:t> GPU.</a:t>
            </a:r>
          </a:p>
          <a:p>
            <a:r>
              <a:rPr lang="en-US" sz="1200" b="0" i="0" kern="1200" dirty="0">
                <a:solidFill>
                  <a:schemeClr val="tx1"/>
                </a:solidFill>
                <a:effectLst/>
                <a:latin typeface="+mn-lt"/>
                <a:ea typeface="+mn-ea"/>
                <a:cs typeface="+mn-cs"/>
              </a:rPr>
              <a:t>There are four key technical contributions here, let's walk through them."</a:t>
            </a:r>
          </a:p>
          <a:p>
            <a:r>
              <a:rPr lang="en-US" sz="1200" b="1" i="0" kern="1200" dirty="0">
                <a:solidFill>
                  <a:schemeClr val="tx1"/>
                </a:solidFill>
                <a:effectLst/>
                <a:latin typeface="+mn-lt"/>
                <a:ea typeface="+mn-ea"/>
                <a:cs typeface="+mn-cs"/>
              </a:rPr>
              <a:t>[0:20 - Point 1: Sarcasm-Enriched Corpus]</a:t>
            </a:r>
            <a:r>
              <a:rPr lang="en-US" sz="1200" b="0" i="0" kern="1200" dirty="0">
                <a:solidFill>
                  <a:schemeClr val="tx1"/>
                </a:solidFill>
                <a:effectLst/>
                <a:latin typeface="+mn-lt"/>
                <a:ea typeface="+mn-ea"/>
                <a:cs typeface="+mn-cs"/>
              </a:rPr>
              <a:t> "First is the </a:t>
            </a:r>
            <a:r>
              <a:rPr lang="en-US" sz="1200" b="1" i="0" kern="1200" dirty="0">
                <a:solidFill>
                  <a:schemeClr val="tx1"/>
                </a:solidFill>
                <a:effectLst/>
                <a:latin typeface="+mn-lt"/>
                <a:ea typeface="+mn-ea"/>
                <a:cs typeface="+mn-cs"/>
              </a:rPr>
              <a:t>Sarcasm-Enriched Corpus</a:t>
            </a:r>
            <a:r>
              <a:rPr lang="en-US" sz="1200" b="0" i="0" kern="1200" dirty="0">
                <a:solidFill>
                  <a:schemeClr val="tx1"/>
                </a:solidFill>
                <a:effectLst/>
                <a:latin typeface="+mn-lt"/>
                <a:ea typeface="+mn-ea"/>
                <a:cs typeface="+mn-cs"/>
              </a:rPr>
              <a:t>. Standard translation datasets don't contain sarcasm. To fix this data gap, we fine-tuned a </a:t>
            </a:r>
            <a:r>
              <a:rPr lang="en-US" sz="1200" b="0" i="0" kern="1200" dirty="0" err="1">
                <a:solidFill>
                  <a:schemeClr val="tx1"/>
                </a:solidFill>
                <a:effectLst/>
                <a:latin typeface="+mn-lt"/>
                <a:ea typeface="+mn-ea"/>
                <a:cs typeface="+mn-cs"/>
              </a:rPr>
              <a:t>RoBERTa</a:t>
            </a:r>
            <a:r>
              <a:rPr lang="en-US" sz="1200" b="0" i="0" kern="1200" dirty="0">
                <a:solidFill>
                  <a:schemeClr val="tx1"/>
                </a:solidFill>
                <a:effectLst/>
                <a:latin typeface="+mn-lt"/>
                <a:ea typeface="+mn-ea"/>
                <a:cs typeface="+mn-cs"/>
              </a:rPr>
              <a:t> detector to explicitly identify sarcastic English tweets. We then used a baseline translation model to generate 'silver-standard' Hindi translations for those tweets. By combining these with regular formal datasets, we gave our model something unprecedented: a parallel corpus explicitly annotated with pragmatic labels."</a:t>
            </a:r>
          </a:p>
          <a:p>
            <a:r>
              <a:rPr lang="en-US" sz="1200" b="1" i="0" kern="1200" dirty="0">
                <a:solidFill>
                  <a:schemeClr val="tx1"/>
                </a:solidFill>
                <a:effectLst/>
                <a:latin typeface="+mn-lt"/>
                <a:ea typeface="+mn-ea"/>
                <a:cs typeface="+mn-cs"/>
              </a:rPr>
              <a:t>[0:50 - Point 2: Control Tokens &amp; Weighted Loss]</a:t>
            </a:r>
            <a:r>
              <a:rPr lang="en-US" sz="1200" b="0" i="0" kern="1200" dirty="0">
                <a:solidFill>
                  <a:schemeClr val="tx1"/>
                </a:solidFill>
                <a:effectLst/>
                <a:latin typeface="+mn-lt"/>
                <a:ea typeface="+mn-ea"/>
                <a:cs typeface="+mn-cs"/>
              </a:rPr>
              <a:t> "Second, we used </a:t>
            </a:r>
            <a:r>
              <a:rPr lang="en-US" sz="1200" b="1" i="0" kern="1200" dirty="0">
                <a:solidFill>
                  <a:schemeClr val="tx1"/>
                </a:solidFill>
                <a:effectLst/>
                <a:latin typeface="+mn-lt"/>
                <a:ea typeface="+mn-ea"/>
                <a:cs typeface="+mn-cs"/>
              </a:rPr>
              <a:t>Control Tokens with a Weighted Loss</a:t>
            </a:r>
            <a:r>
              <a:rPr lang="en-US" sz="1200" b="0" i="0" kern="1200" dirty="0">
                <a:solidFill>
                  <a:schemeClr val="tx1"/>
                </a:solidFill>
                <a:effectLst/>
                <a:latin typeface="+mn-lt"/>
                <a:ea typeface="+mn-ea"/>
                <a:cs typeface="+mn-cs"/>
              </a:rPr>
              <a:t>. We prepend a special &lt;SARCASTIC&gt; or &lt;LITERAL&gt; token to the input sentence. This allows a </a:t>
            </a:r>
            <a:r>
              <a:rPr lang="en-US" sz="1200" b="0" i="1" kern="1200" dirty="0">
                <a:solidFill>
                  <a:schemeClr val="tx1"/>
                </a:solidFill>
                <a:effectLst/>
                <a:latin typeface="+mn-lt"/>
                <a:ea typeface="+mn-ea"/>
                <a:cs typeface="+mn-cs"/>
              </a:rPr>
              <a:t>single</a:t>
            </a:r>
            <a:r>
              <a:rPr lang="en-US" sz="1200" b="0" i="0" kern="1200" dirty="0">
                <a:solidFill>
                  <a:schemeClr val="tx1"/>
                </a:solidFill>
                <a:effectLst/>
                <a:latin typeface="+mn-lt"/>
                <a:ea typeface="+mn-ea"/>
                <a:cs typeface="+mn-cs"/>
              </a:rPr>
              <a:t> model to dynamically change its translation strategy based on the intended tone. However, because sarcastic examples are a minority in the dataset, they usually get drowned out. We solved this by multiplying the training loss by 1.5 times for sarcastic examples. This forces the model to pay extra attention to preserving tone, without causing overall translation quality to collapse."</a:t>
            </a:r>
          </a:p>
          <a:p>
            <a:r>
              <a:rPr lang="en-US" sz="1200" b="1" i="0" kern="1200" dirty="0">
                <a:solidFill>
                  <a:schemeClr val="tx1"/>
                </a:solidFill>
                <a:effectLst/>
                <a:latin typeface="+mn-lt"/>
                <a:ea typeface="+mn-ea"/>
                <a:cs typeface="+mn-cs"/>
              </a:rPr>
              <a:t>[1:25 - Point 3: Contrastive Alignment]</a:t>
            </a:r>
            <a:r>
              <a:rPr lang="en-US" sz="1200" b="0" i="0" kern="1200" dirty="0">
                <a:solidFill>
                  <a:schemeClr val="tx1"/>
                </a:solidFill>
                <a:effectLst/>
                <a:latin typeface="+mn-lt"/>
                <a:ea typeface="+mn-ea"/>
                <a:cs typeface="+mn-cs"/>
              </a:rPr>
              <a:t> "Third, we introduced </a:t>
            </a:r>
            <a:r>
              <a:rPr lang="en-US" sz="1200" b="1" i="0" kern="1200" dirty="0">
                <a:solidFill>
                  <a:schemeClr val="tx1"/>
                </a:solidFill>
                <a:effectLst/>
                <a:latin typeface="+mn-lt"/>
                <a:ea typeface="+mn-ea"/>
                <a:cs typeface="+mn-cs"/>
              </a:rPr>
              <a:t>Contrastive Pragmatic Alignment</a:t>
            </a:r>
            <a:r>
              <a:rPr lang="en-US" sz="1200" b="0" i="0" kern="1200" dirty="0">
                <a:solidFill>
                  <a:schemeClr val="tx1"/>
                </a:solidFill>
                <a:effectLst/>
                <a:latin typeface="+mn-lt"/>
                <a:ea typeface="+mn-ea"/>
                <a:cs typeface="+mn-cs"/>
              </a:rPr>
              <a:t>. Inspired by vision models like CLIP, we added an </a:t>
            </a:r>
            <a:r>
              <a:rPr lang="en-US" sz="1200" b="0" i="0" kern="1200" dirty="0" err="1">
                <a:solidFill>
                  <a:schemeClr val="tx1"/>
                </a:solidFill>
                <a:effectLst/>
                <a:latin typeface="+mn-lt"/>
                <a:ea typeface="+mn-ea"/>
                <a:cs typeface="+mn-cs"/>
              </a:rPr>
              <a:t>InfoNCE</a:t>
            </a:r>
            <a:r>
              <a:rPr lang="en-US" sz="1200" b="0" i="0" kern="1200" dirty="0">
                <a:solidFill>
                  <a:schemeClr val="tx1"/>
                </a:solidFill>
                <a:effectLst/>
                <a:latin typeface="+mn-lt"/>
                <a:ea typeface="+mn-ea"/>
                <a:cs typeface="+mn-cs"/>
              </a:rPr>
              <a:t> contrastive loss to the model's encoder. This forces the model's internal, mathematical representation of 'sarcastic' text to be geometrically pushed apart from 'literal' text. We aren't just teaching it to output different words; we are teaching the model's architecture to genuinely 'feel' the structural difference."</a:t>
            </a:r>
          </a:p>
          <a:p>
            <a:r>
              <a:rPr lang="en-US" sz="1200" b="1" i="0" kern="1200" dirty="0">
                <a:solidFill>
                  <a:schemeClr val="tx1"/>
                </a:solidFill>
                <a:effectLst/>
                <a:latin typeface="+mn-lt"/>
                <a:ea typeface="+mn-ea"/>
                <a:cs typeface="+mn-cs"/>
              </a:rPr>
              <a:t>[1:45 - Point 4: RLPF &amp; Conclusion]</a:t>
            </a:r>
            <a:r>
              <a:rPr lang="en-US" sz="1200" b="0" i="0" kern="1200" dirty="0">
                <a:solidFill>
                  <a:schemeClr val="tx1"/>
                </a:solidFill>
                <a:effectLst/>
                <a:latin typeface="+mn-lt"/>
                <a:ea typeface="+mn-ea"/>
                <a:cs typeface="+mn-cs"/>
              </a:rPr>
              <a:t> "Finally, our most ambitious contribution: </a:t>
            </a:r>
            <a:r>
              <a:rPr lang="en-US" sz="1200" b="1" i="0" kern="1200" dirty="0">
                <a:solidFill>
                  <a:schemeClr val="tx1"/>
                </a:solidFill>
                <a:effectLst/>
                <a:latin typeface="+mn-lt"/>
                <a:ea typeface="+mn-ea"/>
                <a:cs typeface="+mn-cs"/>
              </a:rPr>
              <a:t>Reinforcement Learning from Pragmatic Feedback</a:t>
            </a:r>
            <a:r>
              <a:rPr lang="en-US" sz="1200" b="0" i="0" kern="1200" dirty="0">
                <a:solidFill>
                  <a:schemeClr val="tx1"/>
                </a:solidFill>
                <a:effectLst/>
                <a:latin typeface="+mn-lt"/>
                <a:ea typeface="+mn-ea"/>
                <a:cs typeface="+mn-cs"/>
              </a:rPr>
              <a:t>, or RLPF. Similar to how ChatGPT was fine-tuned with RLHF, we used the REINFORCE algorithm to fine-tune our translation model. But instead of human feedback, our reward is the </a:t>
            </a:r>
            <a:r>
              <a:rPr lang="en-US" sz="1200" b="0" i="1" kern="1200" dirty="0">
                <a:solidFill>
                  <a:schemeClr val="tx1"/>
                </a:solidFill>
                <a:effectLst/>
                <a:latin typeface="+mn-lt"/>
                <a:ea typeface="+mn-ea"/>
                <a:cs typeface="+mn-cs"/>
              </a:rPr>
              <a:t>Pragmatic Divergence Score</a:t>
            </a:r>
            <a:r>
              <a:rPr lang="en-US" sz="1200" b="0" i="0" kern="1200" dirty="0">
                <a:solidFill>
                  <a:schemeClr val="tx1"/>
                </a:solidFill>
                <a:effectLst/>
                <a:latin typeface="+mn-lt"/>
                <a:ea typeface="+mn-ea"/>
                <a:cs typeface="+mn-cs"/>
              </a:rPr>
              <a:t>—a cosine similarity measurement in a multilingual embedding space. This means the model is directly trained to </a:t>
            </a:r>
            <a:r>
              <a:rPr lang="en-US" sz="1200" b="0" i="0" kern="1200" dirty="0" err="1">
                <a:solidFill>
                  <a:schemeClr val="tx1"/>
                </a:solidFill>
                <a:effectLst/>
                <a:latin typeface="+mn-lt"/>
                <a:ea typeface="+mn-ea"/>
                <a:cs typeface="+mn-cs"/>
              </a:rPr>
              <a:t>maximise</a:t>
            </a:r>
            <a:r>
              <a:rPr lang="en-US" sz="1200" b="0" i="0" kern="1200" dirty="0">
                <a:solidFill>
                  <a:schemeClr val="tx1"/>
                </a:solidFill>
                <a:effectLst/>
                <a:latin typeface="+mn-lt"/>
                <a:ea typeface="+mn-ea"/>
                <a:cs typeface="+mn-cs"/>
              </a:rPr>
              <a:t> the preservation of meaning and tone, rather than just matching words in a dictionary."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[0:00 - Introduction &amp; The Table]</a:t>
            </a:r>
            <a:r>
              <a:rPr lang="en-US" sz="1200" b="0" i="0" kern="1200" dirty="0">
                <a:solidFill>
                  <a:schemeClr val="tx1"/>
                </a:solidFill>
                <a:effectLst/>
                <a:latin typeface="+mn-lt"/>
                <a:ea typeface="+mn-ea"/>
                <a:cs typeface="+mn-cs"/>
              </a:rPr>
              <a:t> "This brings us to our final results. We evaluated all models across both standard translation metrics and our novel pragmatic metrics.</a:t>
            </a:r>
          </a:p>
          <a:p>
            <a:r>
              <a:rPr lang="en-US" sz="1200" b="0" i="0" kern="1200" dirty="0">
                <a:solidFill>
                  <a:schemeClr val="tx1"/>
                </a:solidFill>
                <a:effectLst/>
                <a:latin typeface="+mn-lt"/>
                <a:ea typeface="+mn-ea"/>
                <a:cs typeface="+mn-cs"/>
              </a:rPr>
              <a:t>Looking at the table, the </a:t>
            </a:r>
            <a:r>
              <a:rPr lang="en-US" sz="1200" b="1" i="0" kern="1200" dirty="0">
                <a:solidFill>
                  <a:schemeClr val="tx1"/>
                </a:solidFill>
                <a:effectLst/>
                <a:latin typeface="+mn-lt"/>
                <a:ea typeface="+mn-ea"/>
                <a:cs typeface="+mn-cs"/>
              </a:rPr>
              <a:t>Pragmatic-Aware model</a:t>
            </a:r>
            <a:r>
              <a:rPr lang="en-US" sz="1200" b="0" i="0" kern="1200" dirty="0">
                <a:solidFill>
                  <a:schemeClr val="tx1"/>
                </a:solidFill>
                <a:effectLst/>
                <a:latin typeface="+mn-lt"/>
                <a:ea typeface="+mn-ea"/>
                <a:cs typeface="+mn-cs"/>
              </a:rPr>
              <a:t> is the clear winner across aggregate metrics. By simply adding control tokens and weighted loss, we didn't just improve Sentiment Preservation by nearly 7%—we also saw a massive almost 10-point jump in raw BLEU score. This proves a crucial point: </a:t>
            </a:r>
            <a:r>
              <a:rPr lang="en-US" sz="1200" b="1" i="0" kern="1200" dirty="0">
                <a:solidFill>
                  <a:schemeClr val="tx1"/>
                </a:solidFill>
                <a:effectLst/>
                <a:latin typeface="+mn-lt"/>
                <a:ea typeface="+mn-ea"/>
                <a:cs typeface="+mn-cs"/>
              </a:rPr>
              <a:t>sarcasm conditioning strengthens, rather than harms, general translation quality.</a:t>
            </a:r>
            <a:r>
              <a:rPr lang="en-US" sz="1200" b="0" i="0" kern="1200" dirty="0">
                <a:solidFill>
                  <a:schemeClr val="tx1"/>
                </a:solidFill>
                <a:effectLst/>
                <a:latin typeface="+mn-lt"/>
                <a:ea typeface="+mn-ea"/>
                <a:cs typeface="+mn-cs"/>
              </a:rPr>
              <a:t> When the model understands the tone, it chooses better words overall.</a:t>
            </a:r>
          </a:p>
          <a:p>
            <a:r>
              <a:rPr lang="en-US" sz="1200" b="0" i="0" kern="1200" dirty="0">
                <a:solidFill>
                  <a:schemeClr val="tx1"/>
                </a:solidFill>
                <a:effectLst/>
                <a:latin typeface="+mn-lt"/>
                <a:ea typeface="+mn-ea"/>
                <a:cs typeface="+mn-cs"/>
              </a:rPr>
              <a:t>You'll notice the </a:t>
            </a:r>
            <a:r>
              <a:rPr lang="en-US" sz="1200" b="1" i="0" kern="1200" dirty="0">
                <a:solidFill>
                  <a:schemeClr val="tx1"/>
                </a:solidFill>
                <a:effectLst/>
                <a:latin typeface="+mn-lt"/>
                <a:ea typeface="+mn-ea"/>
                <a:cs typeface="+mn-cs"/>
              </a:rPr>
              <a:t>RL model</a:t>
            </a:r>
            <a:r>
              <a:rPr lang="en-US" sz="1200" b="0" i="0" kern="1200" dirty="0">
                <a:solidFill>
                  <a:schemeClr val="tx1"/>
                </a:solidFill>
                <a:effectLst/>
                <a:latin typeface="+mn-lt"/>
                <a:ea typeface="+mn-ea"/>
                <a:cs typeface="+mn-cs"/>
              </a:rPr>
              <a:t> shows a slight drop in the aggregate Pragmatic Divergence Score. However, as noted at the bottom of the table, this model excels on the absolute hardest edge cases. On complex sentences where both the baseline and pragmatic models completely fail to preserve sarcastic intent, the RL model successfully flips the tone by making subtle, highly contextual word choices."</a:t>
            </a:r>
          </a:p>
          <a:p>
            <a:r>
              <a:rPr lang="en-US" sz="1200" b="1" i="0" kern="1200" dirty="0">
                <a:solidFill>
                  <a:schemeClr val="tx1"/>
                </a:solidFill>
                <a:effectLst/>
                <a:latin typeface="+mn-lt"/>
                <a:ea typeface="+mn-ea"/>
                <a:cs typeface="+mn-cs"/>
              </a:rPr>
              <a:t>[1:00 - Stepping Back: The Conclusions]</a:t>
            </a:r>
            <a:r>
              <a:rPr lang="en-US" sz="1200" b="0" i="0" kern="1200" dirty="0">
                <a:solidFill>
                  <a:schemeClr val="tx1"/>
                </a:solidFill>
                <a:effectLst/>
                <a:latin typeface="+mn-lt"/>
                <a:ea typeface="+mn-ea"/>
                <a:cs typeface="+mn-cs"/>
              </a:rPr>
              <a:t> "Stepping back, what are our main conclusions from this work?</a:t>
            </a:r>
          </a:p>
          <a:p>
            <a:r>
              <a:rPr lang="en-US" sz="1200" b="0" i="0" kern="1200" dirty="0">
                <a:solidFill>
                  <a:schemeClr val="tx1"/>
                </a:solidFill>
                <a:effectLst/>
                <a:latin typeface="+mn-lt"/>
                <a:ea typeface="+mn-ea"/>
                <a:cs typeface="+mn-cs"/>
              </a:rPr>
              <a:t>First, we demonstrated that </a:t>
            </a:r>
            <a:r>
              <a:rPr lang="en-US" sz="1200" b="1" i="0" kern="1200" dirty="0">
                <a:solidFill>
                  <a:schemeClr val="tx1"/>
                </a:solidFill>
                <a:effectLst/>
                <a:latin typeface="+mn-lt"/>
                <a:ea typeface="+mn-ea"/>
                <a:cs typeface="+mn-cs"/>
              </a:rPr>
              <a:t>Control tokens and weighted loss</a:t>
            </a:r>
            <a:r>
              <a:rPr lang="en-US" sz="1200" b="0" i="0" kern="1200" dirty="0">
                <a:solidFill>
                  <a:schemeClr val="tx1"/>
                </a:solidFill>
                <a:effectLst/>
                <a:latin typeface="+mn-lt"/>
                <a:ea typeface="+mn-ea"/>
                <a:cs typeface="+mn-cs"/>
              </a:rPr>
              <a:t> provide an extremely lightweight and reproducible method for pragmatic translation. You don't need a supercomputer; this entire pipeline runs on a free </a:t>
            </a:r>
            <a:r>
              <a:rPr lang="en-US" sz="1200" b="0" i="0" kern="1200" dirty="0" err="1">
                <a:solidFill>
                  <a:schemeClr val="tx1"/>
                </a:solidFill>
                <a:effectLst/>
                <a:latin typeface="+mn-lt"/>
                <a:ea typeface="+mn-ea"/>
                <a:cs typeface="+mn-cs"/>
              </a:rPr>
              <a:t>Colab</a:t>
            </a:r>
            <a:r>
              <a:rPr lang="en-US" sz="1200" b="0" i="0" kern="1200" dirty="0">
                <a:solidFill>
                  <a:schemeClr val="tx1"/>
                </a:solidFill>
                <a:effectLst/>
                <a:latin typeface="+mn-lt"/>
                <a:ea typeface="+mn-ea"/>
                <a:cs typeface="+mn-cs"/>
              </a:rPr>
              <a:t> GPU.</a:t>
            </a:r>
          </a:p>
          <a:p>
            <a:r>
              <a:rPr lang="en-US" sz="1200" b="0" i="0" kern="1200" dirty="0">
                <a:solidFill>
                  <a:schemeClr val="tx1"/>
                </a:solidFill>
                <a:effectLst/>
                <a:latin typeface="+mn-lt"/>
                <a:ea typeface="+mn-ea"/>
                <a:cs typeface="+mn-cs"/>
              </a:rPr>
              <a:t>Second, by adapting </a:t>
            </a:r>
            <a:r>
              <a:rPr lang="en-US" sz="1200" b="1" i="0" kern="1200" dirty="0">
                <a:solidFill>
                  <a:schemeClr val="tx1"/>
                </a:solidFill>
                <a:effectLst/>
                <a:latin typeface="+mn-lt"/>
                <a:ea typeface="+mn-ea"/>
                <a:cs typeface="+mn-cs"/>
              </a:rPr>
              <a:t>Contrastive Alignment and Reinforcement Learning</a:t>
            </a:r>
            <a:r>
              <a:rPr lang="en-US" sz="1200" b="0" i="0" kern="1200" dirty="0">
                <a:solidFill>
                  <a:schemeClr val="tx1"/>
                </a:solidFill>
                <a:effectLst/>
                <a:latin typeface="+mn-lt"/>
                <a:ea typeface="+mn-ea"/>
                <a:cs typeface="+mn-cs"/>
              </a:rPr>
              <a:t> from vision and dialogue AI, we brought highly novel training techniques into the machine translation space.</a:t>
            </a:r>
          </a:p>
          <a:p>
            <a:r>
              <a:rPr lang="en-US" sz="1200" b="0" i="0" kern="1200" dirty="0">
                <a:solidFill>
                  <a:schemeClr val="tx1"/>
                </a:solidFill>
                <a:effectLst/>
                <a:latin typeface="+mn-lt"/>
                <a:ea typeface="+mn-ea"/>
                <a:cs typeface="+mn-cs"/>
              </a:rPr>
              <a:t>Third, we propose the </a:t>
            </a:r>
            <a:r>
              <a:rPr lang="en-US" sz="1200" b="1" i="0" kern="1200" dirty="0">
                <a:solidFill>
                  <a:schemeClr val="tx1"/>
                </a:solidFill>
                <a:effectLst/>
                <a:latin typeface="+mn-lt"/>
                <a:ea typeface="+mn-ea"/>
                <a:cs typeface="+mn-cs"/>
              </a:rPr>
              <a:t>Pragmatic Divergence Score (PDS)</a:t>
            </a:r>
            <a:r>
              <a:rPr lang="en-US" sz="1200" b="0" i="0" kern="1200" dirty="0">
                <a:solidFill>
                  <a:schemeClr val="tx1"/>
                </a:solidFill>
                <a:effectLst/>
                <a:latin typeface="+mn-lt"/>
                <a:ea typeface="+mn-ea"/>
                <a:cs typeface="+mn-cs"/>
              </a:rPr>
              <a:t> not just as a reward signal, but as a reusable, multilingual metric for the entire NLP community to evaluate intent preservation.</a:t>
            </a:r>
          </a:p>
          <a:p>
            <a:r>
              <a:rPr lang="en-US" sz="1200" b="0" i="0" kern="1200" dirty="0">
                <a:solidFill>
                  <a:schemeClr val="tx1"/>
                </a:solidFill>
                <a:effectLst/>
                <a:latin typeface="+mn-lt"/>
                <a:ea typeface="+mn-ea"/>
                <a:cs typeface="+mn-cs"/>
              </a:rPr>
              <a:t>Finally, and most importantly, our techniques are completely </a:t>
            </a:r>
            <a:r>
              <a:rPr lang="en-US" sz="1200" b="1" i="0" kern="1200" dirty="0">
                <a:solidFill>
                  <a:schemeClr val="tx1"/>
                </a:solidFill>
                <a:effectLst/>
                <a:latin typeface="+mn-lt"/>
                <a:ea typeface="+mn-ea"/>
                <a:cs typeface="+mn-cs"/>
              </a:rPr>
              <a:t>model-agnostic</a:t>
            </a:r>
            <a:r>
              <a:rPr lang="en-US" sz="1200" b="0" i="0" kern="1200" dirty="0">
                <a:solidFill>
                  <a:schemeClr val="tx1"/>
                </a:solidFill>
                <a:effectLst/>
                <a:latin typeface="+mn-lt"/>
                <a:ea typeface="+mn-ea"/>
                <a:cs typeface="+mn-cs"/>
              </a:rPr>
              <a:t>. While we proved them on </a:t>
            </a:r>
            <a:r>
              <a:rPr lang="en-US" sz="1200" b="0" i="0" kern="1200" dirty="0" err="1">
                <a:solidFill>
                  <a:schemeClr val="tx1"/>
                </a:solidFill>
                <a:effectLst/>
                <a:latin typeface="+mn-lt"/>
                <a:ea typeface="+mn-ea"/>
                <a:cs typeface="+mn-cs"/>
              </a:rPr>
              <a:t>MarianMT</a:t>
            </a:r>
            <a:r>
              <a:rPr lang="en-US" sz="1200" b="0" i="0" kern="1200" dirty="0">
                <a:solidFill>
                  <a:schemeClr val="tx1"/>
                </a:solidFill>
                <a:effectLst/>
                <a:latin typeface="+mn-lt"/>
                <a:ea typeface="+mn-ea"/>
                <a:cs typeface="+mn-cs"/>
              </a:rPr>
              <a:t>, these exact methods can be directly applied to </a:t>
            </a:r>
            <a:r>
              <a:rPr lang="en-US" sz="1200" b="0" i="0" kern="1200" dirty="0" err="1">
                <a:solidFill>
                  <a:schemeClr val="tx1"/>
                </a:solidFill>
                <a:effectLst/>
                <a:latin typeface="+mn-lt"/>
                <a:ea typeface="+mn-ea"/>
                <a:cs typeface="+mn-cs"/>
              </a:rPr>
              <a:t>mBART</a:t>
            </a:r>
            <a:r>
              <a:rPr lang="en-US" sz="1200" b="0" i="0" kern="1200" dirty="0">
                <a:solidFill>
                  <a:schemeClr val="tx1"/>
                </a:solidFill>
                <a:effectLst/>
                <a:latin typeface="+mn-lt"/>
                <a:ea typeface="+mn-ea"/>
                <a:cs typeface="+mn-cs"/>
              </a:rPr>
              <a:t>, NLLB, or any future translation architecture to ensure that the human element of communication—our tone, our sarcasm, and our intent—is never lost in translation."</a:t>
            </a:r>
          </a:p>
          <a:p>
            <a:r>
              <a:rPr lang="en-US" sz="1200" b="1" i="0" kern="1200" dirty="0">
                <a:solidFill>
                  <a:schemeClr val="tx1"/>
                </a:solidFill>
                <a:effectLst/>
                <a:latin typeface="+mn-lt"/>
                <a:ea typeface="+mn-ea"/>
                <a:cs typeface="+mn-cs"/>
              </a:rPr>
              <a:t>[1:50 - Outro]</a:t>
            </a:r>
            <a:r>
              <a:rPr lang="en-US" sz="1200" b="0" i="0" kern="1200" dirty="0">
                <a:solidFill>
                  <a:schemeClr val="tx1"/>
                </a:solidFill>
                <a:effectLst/>
                <a:latin typeface="+mn-lt"/>
                <a:ea typeface="+mn-ea"/>
                <a:cs typeface="+mn-cs"/>
              </a:rPr>
              <a:t> "Thank you. This concludes the presentation on Pragmatic Signal-Aware NMT. I'm happy to take any questions."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64592"/>
          </a:xfrm>
          <a:prstGeom prst="rect">
            <a:avLst/>
          </a:prstGeom>
          <a:solidFill>
            <a:srgbClr val="2563A8"/>
          </a:solidFill>
          <a:ln w="12700">
            <a:solidFill>
              <a:srgbClr val="2563A8"/>
            </a:solidFill>
            <a:prstDash val="solid"/>
          </a:ln>
        </p:spPr>
        <p:txBody>
          <a:bodyPr/>
          <a:lstStyle/>
          <a:p>
            <a:endParaRPr lang="en-IN"/>
          </a:p>
        </p:txBody>
      </p:sp>
      <p:sp>
        <p:nvSpPr>
          <p:cNvPr id="3" name="Shape 1"/>
          <p:cNvSpPr/>
          <p:nvPr/>
        </p:nvSpPr>
        <p:spPr>
          <a:xfrm>
            <a:off x="0" y="4965192"/>
            <a:ext cx="9144000" cy="173736"/>
          </a:xfrm>
          <a:prstGeom prst="rect">
            <a:avLst/>
          </a:prstGeom>
          <a:solidFill>
            <a:srgbClr val="1E3A5F"/>
          </a:solidFill>
          <a:ln w="12700">
            <a:solidFill>
              <a:srgbClr val="1E3A5F"/>
            </a:solidFill>
            <a:prstDash val="solid"/>
          </a:ln>
        </p:spPr>
        <p:txBody>
          <a:bodyPr/>
          <a:lstStyle/>
          <a:p>
            <a:endParaRPr lang="en-IN"/>
          </a:p>
        </p:txBody>
      </p:sp>
      <p:grpSp>
        <p:nvGrpSpPr>
          <p:cNvPr id="11" name="Group 10">
            <a:extLst>
              <a:ext uri="{FF2B5EF4-FFF2-40B4-BE49-F238E27FC236}">
                <a16:creationId xmlns:a16="http://schemas.microsoft.com/office/drawing/2014/main" id="{F9D98B53-45CF-F952-994F-A51764DFCF8D}"/>
              </a:ext>
            </a:extLst>
          </p:cNvPr>
          <p:cNvGrpSpPr/>
          <p:nvPr/>
        </p:nvGrpSpPr>
        <p:grpSpPr>
          <a:xfrm>
            <a:off x="640080" y="948690"/>
            <a:ext cx="7863840" cy="3246120"/>
            <a:chOff x="640080" y="548640"/>
            <a:chExt cx="7863840" cy="3246120"/>
          </a:xfrm>
        </p:grpSpPr>
        <p:sp>
          <p:nvSpPr>
            <p:cNvPr id="4" name="Shape 2"/>
            <p:cNvSpPr/>
            <p:nvPr/>
          </p:nvSpPr>
          <p:spPr>
            <a:xfrm>
              <a:off x="640080" y="548640"/>
              <a:ext cx="7863840" cy="3246120"/>
            </a:xfrm>
            <a:prstGeom prst="rect">
              <a:avLst/>
            </a:prstGeom>
            <a:solidFill>
              <a:srgbClr val="1E3A5F"/>
            </a:solidFill>
            <a:ln w="12700">
              <a:solidFill>
                <a:srgbClr val="1E3A5F"/>
              </a:solidFill>
              <a:prstDash val="solid"/>
            </a:ln>
            <a:effectLst>
              <a:outerShdw blurRad="127000" dist="38100" dir="8100000" algn="bl" rotWithShape="0">
                <a:srgbClr val="000000">
                  <a:alpha val="18000"/>
                </a:srgbClr>
              </a:outerShdw>
            </a:effectLst>
          </p:spPr>
          <p:txBody>
            <a:bodyPr/>
            <a:lstStyle/>
            <a:p>
              <a:endParaRPr lang="en-IN"/>
            </a:p>
          </p:txBody>
        </p:sp>
        <p:sp>
          <p:nvSpPr>
            <p:cNvPr id="5" name="Text 3"/>
            <p:cNvSpPr/>
            <p:nvPr/>
          </p:nvSpPr>
          <p:spPr>
            <a:xfrm>
              <a:off x="640080" y="804672"/>
              <a:ext cx="7863840" cy="658368"/>
            </a:xfrm>
            <a:prstGeom prst="rect">
              <a:avLst/>
            </a:prstGeom>
            <a:noFill/>
            <a:ln/>
          </p:spPr>
          <p:txBody>
            <a:bodyPr wrap="square" lIns="0" tIns="0" rIns="0" bIns="0"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Pragmatic Signal-Aware</a:t>
              </a:r>
              <a:endParaRPr lang="en-US" sz="3400" dirty="0"/>
            </a:p>
          </p:txBody>
        </p:sp>
        <p:sp>
          <p:nvSpPr>
            <p:cNvPr id="6" name="Text 4"/>
            <p:cNvSpPr/>
            <p:nvPr/>
          </p:nvSpPr>
          <p:spPr>
            <a:xfrm>
              <a:off x="640080" y="1417320"/>
              <a:ext cx="7863840" cy="658368"/>
            </a:xfrm>
            <a:prstGeom prst="rect">
              <a:avLst/>
            </a:prstGeom>
            <a:noFill/>
            <a:ln/>
          </p:spPr>
          <p:txBody>
            <a:bodyPr wrap="square" lIns="0" tIns="0" rIns="0" bIns="0"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Neural Machine Translation</a:t>
              </a:r>
              <a:endParaRPr lang="en-US" sz="3400" dirty="0"/>
            </a:p>
          </p:txBody>
        </p:sp>
        <p:sp>
          <p:nvSpPr>
            <p:cNvPr id="7" name="Shape 5"/>
            <p:cNvSpPr/>
            <p:nvPr/>
          </p:nvSpPr>
          <p:spPr>
            <a:xfrm>
              <a:off x="3200400" y="2212848"/>
              <a:ext cx="2743200" cy="45720"/>
            </a:xfrm>
            <a:prstGeom prst="rect">
              <a:avLst/>
            </a:prstGeom>
            <a:solidFill>
              <a:srgbClr val="60A5FA"/>
            </a:solidFill>
            <a:ln w="12700">
              <a:solidFill>
                <a:srgbClr val="60A5FA"/>
              </a:solidFill>
              <a:prstDash val="solid"/>
            </a:ln>
          </p:spPr>
          <p:txBody>
            <a:bodyPr/>
            <a:lstStyle/>
            <a:p>
              <a:endParaRPr lang="en-IN"/>
            </a:p>
          </p:txBody>
        </p:sp>
        <p:sp>
          <p:nvSpPr>
            <p:cNvPr id="8" name="Text 6"/>
            <p:cNvSpPr/>
            <p:nvPr/>
          </p:nvSpPr>
          <p:spPr>
            <a:xfrm>
              <a:off x="640080" y="2359152"/>
              <a:ext cx="7863840" cy="502920"/>
            </a:xfrm>
            <a:prstGeom prst="rect">
              <a:avLst/>
            </a:prstGeom>
            <a:noFill/>
            <a:ln/>
          </p:spPr>
          <p:txBody>
            <a:bodyPr wrap="square" lIns="0" tIns="0" rIns="0" bIns="0" rtlCol="0" anchor="ctr"/>
            <a:lstStyle/>
            <a:p>
              <a:pPr marL="0" indent="0" algn="ctr">
                <a:buNone/>
              </a:pPr>
              <a:r>
                <a:rPr lang="en-US" sz="1300" i="1" dirty="0">
                  <a:solidFill>
                    <a:srgbClr val="DBEAFE"/>
                  </a:solidFill>
                  <a:latin typeface="Calibri" pitchFamily="34" charset="0"/>
                  <a:ea typeface="Calibri" pitchFamily="34" charset="-122"/>
                  <a:cs typeface="Calibri" pitchFamily="34" charset="-120"/>
                </a:rPr>
                <a:t>Aadit Kumar Sahoo 23114001 21</a:t>
              </a:r>
              <a:r>
                <a:rPr lang="en-US" sz="1300" i="1" baseline="30000" dirty="0">
                  <a:solidFill>
                    <a:srgbClr val="DBEAFE"/>
                  </a:solidFill>
                  <a:latin typeface="Calibri" pitchFamily="34" charset="0"/>
                  <a:ea typeface="Calibri" pitchFamily="34" charset="-122"/>
                  <a:cs typeface="Calibri" pitchFamily="34" charset="-120"/>
                </a:rPr>
                <a:t>st</a:t>
              </a:r>
              <a:r>
                <a:rPr lang="en-US" sz="1300" i="1" dirty="0">
                  <a:solidFill>
                    <a:srgbClr val="DBEAFE"/>
                  </a:solidFill>
                  <a:latin typeface="Calibri" pitchFamily="34" charset="0"/>
                  <a:ea typeface="Calibri" pitchFamily="34" charset="-122"/>
                  <a:cs typeface="Calibri" pitchFamily="34" charset="-120"/>
                </a:rPr>
                <a:t> April 2026</a:t>
              </a:r>
            </a:p>
            <a:p>
              <a:pPr marL="0" indent="0" algn="ctr">
                <a:buNone/>
              </a:pPr>
              <a:r>
                <a:rPr lang="en-US" sz="1300" i="1" dirty="0">
                  <a:solidFill>
                    <a:srgbClr val="DBEAFE"/>
                  </a:solidFill>
                  <a:latin typeface="Calibri" pitchFamily="34" charset="0"/>
                  <a:ea typeface="Calibri" pitchFamily="34" charset="-122"/>
                  <a:cs typeface="Calibri" pitchFamily="34" charset="-120"/>
                </a:rPr>
                <a:t>Preserving Sarcasm &amp; Pragmatic Signals in English-to-Hindi Translation</a:t>
              </a:r>
              <a:endParaRPr lang="en-US" sz="1300" dirty="0"/>
            </a:p>
          </p:txBody>
        </p:sp>
        <p:sp>
          <p:nvSpPr>
            <p:cNvPr id="9" name="Text 7"/>
            <p:cNvSpPr/>
            <p:nvPr/>
          </p:nvSpPr>
          <p:spPr>
            <a:xfrm>
              <a:off x="640080" y="2971800"/>
              <a:ext cx="7863840" cy="411480"/>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Control Tokens  ·  Weighted Loss  ·  Contrastive Alignment  ·  RL from Pragmatic Feedback</a:t>
              </a:r>
              <a:endParaRPr lang="en-US" sz="1100" dirty="0"/>
            </a:p>
          </p:txBody>
        </p:sp>
      </p:grpSp>
      <p:sp>
        <p:nvSpPr>
          <p:cNvPr id="10" name="Text 8"/>
          <p:cNvSpPr/>
          <p:nvPr/>
        </p:nvSpPr>
        <p:spPr>
          <a:xfrm>
            <a:off x="0" y="4709160"/>
            <a:ext cx="9144000" cy="256032"/>
          </a:xfrm>
          <a:prstGeom prst="rect">
            <a:avLst/>
          </a:prstGeom>
          <a:noFill/>
          <a:ln/>
        </p:spPr>
        <p:txBody>
          <a:bodyPr wrap="square" lIns="0" tIns="0" rIns="0" bIns="0" rtlCol="0" anchor="ctr"/>
          <a:lstStyle/>
          <a:p>
            <a:pPr marL="0" indent="0" algn="ctr">
              <a:buNone/>
            </a:pPr>
            <a:r>
              <a:rPr lang="en-US" sz="1100" dirty="0">
                <a:solidFill>
                  <a:srgbClr val="94A3B8"/>
                </a:solidFill>
                <a:latin typeface="Calibri" pitchFamily="34" charset="0"/>
                <a:ea typeface="Calibri" pitchFamily="34" charset="-122"/>
                <a:cs typeface="Calibri" pitchFamily="34" charset="-120"/>
              </a:rPr>
              <a:t>NLP Research Project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3A5F"/>
          </a:solidFill>
          <a:ln w="12700">
            <a:solidFill>
              <a:srgbClr val="1E3A5F"/>
            </a:solidFill>
            <a:prstDash val="solid"/>
          </a:ln>
        </p:spPr>
        <p:txBody>
          <a:bodyPr/>
          <a:lstStyle/>
          <a:p>
            <a:endParaRPr lang="en-IN"/>
          </a:p>
        </p:txBody>
      </p:sp>
      <p:sp>
        <p:nvSpPr>
          <p:cNvPr id="3" name="Text 1"/>
          <p:cNvSpPr/>
          <p:nvPr/>
        </p:nvSpPr>
        <p:spPr>
          <a:xfrm>
            <a:off x="411480" y="73152"/>
            <a:ext cx="6858000" cy="530352"/>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Problem Statement</a:t>
            </a:r>
            <a:endParaRPr lang="en-US" sz="2600" dirty="0"/>
          </a:p>
        </p:txBody>
      </p:sp>
      <p:sp>
        <p:nvSpPr>
          <p:cNvPr id="4" name="Text 2"/>
          <p:cNvSpPr/>
          <p:nvPr/>
        </p:nvSpPr>
        <p:spPr>
          <a:xfrm>
            <a:off x="411480" y="594360"/>
            <a:ext cx="8321040" cy="310896"/>
          </a:xfrm>
          <a:prstGeom prst="rect">
            <a:avLst/>
          </a:prstGeom>
          <a:noFill/>
          <a:ln/>
        </p:spPr>
        <p:txBody>
          <a:bodyPr wrap="square" lIns="0" tIns="0" rIns="0" bIns="0" rtlCol="0" anchor="ctr"/>
          <a:lstStyle/>
          <a:p>
            <a:pPr marL="0" indent="0">
              <a:buNone/>
            </a:pPr>
            <a:r>
              <a:rPr lang="en-US" sz="1200" dirty="0">
                <a:solidFill>
                  <a:srgbClr val="DBEAFE"/>
                </a:solidFill>
                <a:latin typeface="Calibri" pitchFamily="34" charset="0"/>
                <a:ea typeface="Calibri" pitchFamily="34" charset="-122"/>
                <a:cs typeface="Calibri" pitchFamily="34" charset="-120"/>
              </a:rPr>
              <a:t>Why is pragmatic translation an unsolved challenge?</a:t>
            </a:r>
            <a:endParaRPr lang="en-US" sz="1200" dirty="0"/>
          </a:p>
        </p:txBody>
      </p:sp>
      <p:sp>
        <p:nvSpPr>
          <p:cNvPr id="5" name="Shape 3"/>
          <p:cNvSpPr/>
          <p:nvPr/>
        </p:nvSpPr>
        <p:spPr>
          <a:xfrm>
            <a:off x="411480" y="1078992"/>
            <a:ext cx="4160520" cy="3760796"/>
          </a:xfrm>
          <a:prstGeom prst="rect">
            <a:avLst/>
          </a:prstGeom>
          <a:solidFill>
            <a:srgbClr val="F4F6F9"/>
          </a:solidFill>
          <a:ln w="12700">
            <a:solidFill>
              <a:srgbClr val="D1D5DB"/>
            </a:solidFill>
            <a:prstDash val="solid"/>
          </a:ln>
          <a:effectLst>
            <a:outerShdw blurRad="50800" dist="12700" dir="8100000" algn="bl" rotWithShape="0">
              <a:srgbClr val="000000">
                <a:alpha val="7000"/>
              </a:srgbClr>
            </a:outerShdw>
          </a:effectLst>
        </p:spPr>
        <p:txBody>
          <a:bodyPr/>
          <a:lstStyle/>
          <a:p>
            <a:endParaRPr lang="en-IN"/>
          </a:p>
        </p:txBody>
      </p:sp>
      <p:sp>
        <p:nvSpPr>
          <p:cNvPr id="6" name="Text 4"/>
          <p:cNvSpPr/>
          <p:nvPr/>
        </p:nvSpPr>
        <p:spPr>
          <a:xfrm>
            <a:off x="548640" y="1170432"/>
            <a:ext cx="3840480" cy="365760"/>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The Core Challenge</a:t>
            </a:r>
            <a:endParaRPr lang="en-US" sz="1400" dirty="0"/>
          </a:p>
        </p:txBody>
      </p:sp>
      <p:sp>
        <p:nvSpPr>
          <p:cNvPr id="7" name="Text 5"/>
          <p:cNvSpPr/>
          <p:nvPr/>
        </p:nvSpPr>
        <p:spPr>
          <a:xfrm>
            <a:off x="548640" y="1572768"/>
            <a:ext cx="3840480" cy="1627632"/>
          </a:xfrm>
          <a:prstGeom prst="rect">
            <a:avLst/>
          </a:prstGeom>
          <a:noFill/>
          <a:ln/>
        </p:spPr>
        <p:txBody>
          <a:bodyPr wrap="square" lIns="0" tIns="0" rIns="0" bIns="0" rtlCol="0" anchor="ctr"/>
          <a:lstStyle/>
          <a:p>
            <a:pPr marL="0" indent="0">
              <a:buNone/>
            </a:pPr>
            <a:r>
              <a:rPr lang="en-US" sz="1200" dirty="0">
                <a:solidFill>
                  <a:srgbClr val="1E293B"/>
                </a:solidFill>
                <a:latin typeface="Calibri" pitchFamily="34" charset="0"/>
                <a:ea typeface="Calibri" pitchFamily="34" charset="-122"/>
                <a:cs typeface="Calibri" pitchFamily="34" charset="-120"/>
              </a:rPr>
              <a:t>Machine translation systems are trained on </a:t>
            </a:r>
            <a:r>
              <a:rPr lang="en-US" sz="1200" b="1" dirty="0">
                <a:solidFill>
                  <a:srgbClr val="1E293B"/>
                </a:solidFill>
                <a:latin typeface="Calibri" pitchFamily="34" charset="0"/>
                <a:ea typeface="Calibri" pitchFamily="34" charset="-122"/>
                <a:cs typeface="Calibri" pitchFamily="34" charset="-120"/>
              </a:rPr>
              <a:t>literal sentence pairs</a:t>
            </a:r>
            <a:r>
              <a:rPr lang="en-US" sz="1200" dirty="0">
                <a:solidFill>
                  <a:srgbClr val="1E293B"/>
                </a:solidFill>
                <a:latin typeface="Calibri" pitchFamily="34" charset="0"/>
                <a:ea typeface="Calibri" pitchFamily="34" charset="-122"/>
                <a:cs typeface="Calibri" pitchFamily="34" charset="-120"/>
              </a:rPr>
              <a:t> - word meanings and grammatical structure. They have no representation of </a:t>
            </a:r>
            <a:r>
              <a:rPr lang="en-US" sz="1200" b="1" dirty="0">
                <a:solidFill>
                  <a:srgbClr val="1E293B"/>
                </a:solidFill>
                <a:latin typeface="Calibri" pitchFamily="34" charset="0"/>
                <a:ea typeface="Calibri" pitchFamily="34" charset="-122"/>
                <a:cs typeface="Calibri" pitchFamily="34" charset="-120"/>
              </a:rPr>
              <a:t>pragmatic intent</a:t>
            </a:r>
            <a:r>
              <a:rPr lang="en-US" sz="1200" dirty="0">
                <a:solidFill>
                  <a:srgbClr val="1E293B"/>
                </a:solidFill>
                <a:latin typeface="Calibri" pitchFamily="34" charset="0"/>
                <a:ea typeface="Calibri" pitchFamily="34" charset="-122"/>
                <a:cs typeface="Calibri" pitchFamily="34" charset="-120"/>
              </a:rPr>
              <a:t>: what the speaker actually means behind the words.</a:t>
            </a:r>
            <a:endParaRPr lang="en-US" sz="1200" dirty="0"/>
          </a:p>
          <a:p>
            <a:pPr marL="0" indent="0">
              <a:buNone/>
            </a:pPr>
            <a:endParaRPr lang="en-US" sz="1200" dirty="0"/>
          </a:p>
          <a:p>
            <a:pPr marL="0" indent="0">
              <a:buNone/>
            </a:pPr>
            <a:r>
              <a:rPr lang="en-US" sz="1200" dirty="0">
                <a:solidFill>
                  <a:srgbClr val="1E293B"/>
                </a:solidFill>
                <a:latin typeface="Calibri" pitchFamily="34" charset="0"/>
                <a:ea typeface="Calibri" pitchFamily="34" charset="-122"/>
                <a:cs typeface="Calibri" pitchFamily="34" charset="-120"/>
              </a:rPr>
              <a:t>Sarcasm, irony, and rhetorical questions carry meaning through </a:t>
            </a:r>
            <a:r>
              <a:rPr lang="en-US" sz="1200" b="1" dirty="0">
                <a:solidFill>
                  <a:srgbClr val="1E293B"/>
                </a:solidFill>
                <a:latin typeface="Calibri" pitchFamily="34" charset="0"/>
                <a:ea typeface="Calibri" pitchFamily="34" charset="-122"/>
                <a:cs typeface="Calibri" pitchFamily="34" charset="-120"/>
              </a:rPr>
              <a:t>contrast between surface form and intent</a:t>
            </a:r>
            <a:r>
              <a:rPr lang="en-US" sz="1200" dirty="0">
                <a:solidFill>
                  <a:srgbClr val="1E293B"/>
                </a:solidFill>
                <a:latin typeface="Calibri" pitchFamily="34" charset="0"/>
                <a:ea typeface="Calibri" pitchFamily="34" charset="-122"/>
                <a:cs typeface="Calibri" pitchFamily="34" charset="-120"/>
              </a:rPr>
              <a:t>. Standard models see only the surface.</a:t>
            </a:r>
            <a:endParaRPr lang="en-US" sz="1200" dirty="0"/>
          </a:p>
        </p:txBody>
      </p:sp>
      <p:sp>
        <p:nvSpPr>
          <p:cNvPr id="8" name="Shape 6"/>
          <p:cNvSpPr/>
          <p:nvPr/>
        </p:nvSpPr>
        <p:spPr>
          <a:xfrm>
            <a:off x="548640" y="3246120"/>
            <a:ext cx="3840480" cy="1115568"/>
          </a:xfrm>
          <a:prstGeom prst="rect">
            <a:avLst/>
          </a:prstGeom>
          <a:solidFill>
            <a:srgbClr val="EFF6FF"/>
          </a:solidFill>
          <a:ln w="12700">
            <a:solidFill>
              <a:srgbClr val="93C5FD"/>
            </a:solidFill>
            <a:prstDash val="solid"/>
          </a:ln>
        </p:spPr>
        <p:txBody>
          <a:bodyPr/>
          <a:lstStyle/>
          <a:p>
            <a:endParaRPr lang="en-IN"/>
          </a:p>
        </p:txBody>
      </p:sp>
      <p:sp>
        <p:nvSpPr>
          <p:cNvPr id="9" name="Text 7"/>
          <p:cNvSpPr/>
          <p:nvPr/>
        </p:nvSpPr>
        <p:spPr>
          <a:xfrm>
            <a:off x="658368" y="3310128"/>
            <a:ext cx="1097280" cy="256032"/>
          </a:xfrm>
          <a:prstGeom prst="rect">
            <a:avLst/>
          </a:prstGeom>
          <a:noFill/>
          <a:ln/>
        </p:spPr>
        <p:txBody>
          <a:bodyPr wrap="square" lIns="0" tIns="0" rIns="0" bIns="0" rtlCol="0" anchor="ctr"/>
          <a:lstStyle/>
          <a:p>
            <a:pPr marL="0" indent="0">
              <a:buNone/>
            </a:pPr>
            <a:r>
              <a:rPr lang="en-US" sz="1000" b="1" dirty="0">
                <a:solidFill>
                  <a:srgbClr val="2563A8"/>
                </a:solidFill>
                <a:latin typeface="Calibri" pitchFamily="34" charset="0"/>
                <a:ea typeface="Calibri" pitchFamily="34" charset="-122"/>
                <a:cs typeface="Calibri" pitchFamily="34" charset="-120"/>
              </a:rPr>
              <a:t>Example</a:t>
            </a:r>
            <a:endParaRPr lang="en-US" sz="1000" dirty="0"/>
          </a:p>
        </p:txBody>
      </p:sp>
      <p:sp>
        <p:nvSpPr>
          <p:cNvPr id="10" name="Text 8"/>
          <p:cNvSpPr/>
          <p:nvPr/>
        </p:nvSpPr>
        <p:spPr>
          <a:xfrm>
            <a:off x="658368" y="3584448"/>
            <a:ext cx="3621024" cy="685800"/>
          </a:xfrm>
          <a:prstGeom prst="rect">
            <a:avLst/>
          </a:prstGeom>
          <a:noFill/>
          <a:ln/>
        </p:spPr>
        <p:txBody>
          <a:bodyPr wrap="square" lIns="0" tIns="0" rIns="0" bIns="0" rtlCol="0" anchor="ctr"/>
          <a:lstStyle/>
          <a:p>
            <a:pPr marL="0" indent="0">
              <a:buNone/>
            </a:pPr>
            <a:r>
              <a:rPr lang="en-US" sz="1000" i="1" dirty="0">
                <a:solidFill>
                  <a:srgbClr val="475569"/>
                </a:solidFill>
                <a:latin typeface="Calibri" pitchFamily="34" charset="0"/>
                <a:ea typeface="Calibri" pitchFamily="34" charset="-122"/>
                <a:cs typeface="Calibri" pitchFamily="34" charset="-120"/>
              </a:rPr>
              <a:t>"I just love waiting in queues."</a:t>
            </a:r>
            <a:endParaRPr lang="en-US" sz="1000" dirty="0"/>
          </a:p>
          <a:p>
            <a:pPr marL="0" indent="0">
              <a:buNone/>
            </a:pPr>
            <a:r>
              <a:rPr lang="en-US" sz="1000" i="1" dirty="0">
                <a:solidFill>
                  <a:srgbClr val="475569"/>
                </a:solidFill>
                <a:latin typeface="Calibri" pitchFamily="34" charset="0"/>
                <a:ea typeface="Calibri" pitchFamily="34" charset="-122"/>
                <a:cs typeface="Calibri" pitchFamily="34" charset="-120"/>
              </a:rPr>
              <a:t>→ Literal read: speaker enjoys queues</a:t>
            </a:r>
            <a:endParaRPr lang="en-US" sz="1000" dirty="0"/>
          </a:p>
          <a:p>
            <a:pPr marL="0" indent="0">
              <a:buNone/>
            </a:pPr>
            <a:r>
              <a:rPr lang="en-US" sz="1000" i="1" dirty="0">
                <a:solidFill>
                  <a:srgbClr val="475569"/>
                </a:solidFill>
                <a:latin typeface="Calibri" pitchFamily="34" charset="0"/>
                <a:ea typeface="Calibri" pitchFamily="34" charset="-122"/>
                <a:cs typeface="Calibri" pitchFamily="34" charset="-120"/>
              </a:rPr>
              <a:t>→ Pragmatic read: speaker is frustrated (sarcasm)</a:t>
            </a:r>
            <a:endParaRPr lang="en-US" sz="1000" dirty="0"/>
          </a:p>
        </p:txBody>
      </p:sp>
      <p:sp>
        <p:nvSpPr>
          <p:cNvPr id="11" name="Shape 9"/>
          <p:cNvSpPr/>
          <p:nvPr/>
        </p:nvSpPr>
        <p:spPr>
          <a:xfrm>
            <a:off x="4663440" y="1078991"/>
            <a:ext cx="4069080" cy="3760797"/>
          </a:xfrm>
          <a:prstGeom prst="rect">
            <a:avLst/>
          </a:prstGeom>
          <a:solidFill>
            <a:srgbClr val="F4F6F9"/>
          </a:solidFill>
          <a:ln w="12700">
            <a:solidFill>
              <a:srgbClr val="D1D5DB"/>
            </a:solidFill>
            <a:prstDash val="solid"/>
          </a:ln>
          <a:effectLst>
            <a:outerShdw blurRad="50800" dist="12700" dir="8100000" algn="bl" rotWithShape="0">
              <a:srgbClr val="000000">
                <a:alpha val="7000"/>
              </a:srgbClr>
            </a:outerShdw>
          </a:effectLst>
        </p:spPr>
        <p:txBody>
          <a:bodyPr/>
          <a:lstStyle/>
          <a:p>
            <a:endParaRPr lang="en-IN"/>
          </a:p>
        </p:txBody>
      </p:sp>
      <p:sp>
        <p:nvSpPr>
          <p:cNvPr id="12" name="Text 10"/>
          <p:cNvSpPr/>
          <p:nvPr/>
        </p:nvSpPr>
        <p:spPr>
          <a:xfrm>
            <a:off x="4791456" y="1170432"/>
            <a:ext cx="3794760" cy="365760"/>
          </a:xfrm>
          <a:prstGeom prst="rect">
            <a:avLst/>
          </a:prstGeom>
          <a:noFill/>
          <a:ln/>
        </p:spPr>
        <p:txBody>
          <a:bodyPr wrap="square" lIns="0" tIns="0" rIns="0" bIns="0" rtlCol="0" anchor="ctr"/>
          <a:lstStyle/>
          <a:p>
            <a:pPr marL="0" indent="0">
              <a:buNone/>
            </a:pPr>
            <a:r>
              <a:rPr lang="en-US" sz="1400" b="1" dirty="0">
                <a:solidFill>
                  <a:srgbClr val="1E3A5F"/>
                </a:solidFill>
                <a:latin typeface="Calibri" pitchFamily="34" charset="0"/>
                <a:ea typeface="Calibri" pitchFamily="34" charset="-122"/>
                <a:cs typeface="Calibri" pitchFamily="34" charset="-120"/>
              </a:rPr>
              <a:t>Why Even State-of-the-Art Models Fail</a:t>
            </a:r>
            <a:endParaRPr lang="en-US" sz="1400" dirty="0"/>
          </a:p>
        </p:txBody>
      </p:sp>
      <p:sp>
        <p:nvSpPr>
          <p:cNvPr id="13" name="Shape 11"/>
          <p:cNvSpPr/>
          <p:nvPr/>
        </p:nvSpPr>
        <p:spPr>
          <a:xfrm>
            <a:off x="4791456" y="1572768"/>
            <a:ext cx="54864" cy="676656"/>
          </a:xfrm>
          <a:prstGeom prst="rect">
            <a:avLst/>
          </a:prstGeom>
          <a:solidFill>
            <a:srgbClr val="2563A8"/>
          </a:solidFill>
          <a:ln w="12700">
            <a:solidFill>
              <a:srgbClr val="2563A8"/>
            </a:solidFill>
            <a:prstDash val="solid"/>
          </a:ln>
        </p:spPr>
        <p:txBody>
          <a:bodyPr/>
          <a:lstStyle/>
          <a:p>
            <a:endParaRPr lang="en-IN"/>
          </a:p>
        </p:txBody>
      </p:sp>
      <p:sp>
        <p:nvSpPr>
          <p:cNvPr id="14" name="Text 12"/>
          <p:cNvSpPr/>
          <p:nvPr/>
        </p:nvSpPr>
        <p:spPr>
          <a:xfrm>
            <a:off x="4919472" y="1572768"/>
            <a:ext cx="3639312" cy="237744"/>
          </a:xfrm>
          <a:prstGeom prst="rect">
            <a:avLst/>
          </a:prstGeom>
          <a:noFill/>
          <a:ln/>
        </p:spPr>
        <p:txBody>
          <a:bodyPr wrap="square" lIns="0" tIns="0" rIns="0" bIns="0"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Training data bias</a:t>
            </a:r>
            <a:endParaRPr lang="en-US" sz="1100" dirty="0"/>
          </a:p>
        </p:txBody>
      </p:sp>
      <p:sp>
        <p:nvSpPr>
          <p:cNvPr id="15" name="Text 13"/>
          <p:cNvSpPr/>
          <p:nvPr/>
        </p:nvSpPr>
        <p:spPr>
          <a:xfrm>
            <a:off x="4919472" y="1810512"/>
            <a:ext cx="3639312" cy="402336"/>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Parallel corpora (e.g. IITB, news text) are overwhelmingly literal. Models learn literal mappings and have no exposure to sarcastic patterns during training.</a:t>
            </a:r>
            <a:endParaRPr lang="en-US" sz="1000" dirty="0"/>
          </a:p>
        </p:txBody>
      </p:sp>
      <p:sp>
        <p:nvSpPr>
          <p:cNvPr id="16" name="Shape 14"/>
          <p:cNvSpPr/>
          <p:nvPr/>
        </p:nvSpPr>
        <p:spPr>
          <a:xfrm>
            <a:off x="4791456" y="2359152"/>
            <a:ext cx="54864" cy="676656"/>
          </a:xfrm>
          <a:prstGeom prst="rect">
            <a:avLst/>
          </a:prstGeom>
          <a:solidFill>
            <a:srgbClr val="2563A8"/>
          </a:solidFill>
          <a:ln w="12700">
            <a:solidFill>
              <a:srgbClr val="2563A8"/>
            </a:solidFill>
            <a:prstDash val="solid"/>
          </a:ln>
        </p:spPr>
        <p:txBody>
          <a:bodyPr/>
          <a:lstStyle/>
          <a:p>
            <a:endParaRPr lang="en-IN"/>
          </a:p>
        </p:txBody>
      </p:sp>
      <p:sp>
        <p:nvSpPr>
          <p:cNvPr id="17" name="Text 15"/>
          <p:cNvSpPr/>
          <p:nvPr/>
        </p:nvSpPr>
        <p:spPr>
          <a:xfrm>
            <a:off x="4919472" y="2359152"/>
            <a:ext cx="3639312" cy="237744"/>
          </a:xfrm>
          <a:prstGeom prst="rect">
            <a:avLst/>
          </a:prstGeom>
          <a:noFill/>
          <a:ln/>
        </p:spPr>
        <p:txBody>
          <a:bodyPr wrap="square" lIns="0" tIns="0" rIns="0" bIns="0"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No pragmatic objective</a:t>
            </a:r>
            <a:endParaRPr lang="en-US" sz="1100" dirty="0"/>
          </a:p>
        </p:txBody>
      </p:sp>
      <p:sp>
        <p:nvSpPr>
          <p:cNvPr id="18" name="Text 16"/>
          <p:cNvSpPr/>
          <p:nvPr/>
        </p:nvSpPr>
        <p:spPr>
          <a:xfrm>
            <a:off x="4919472" y="2596896"/>
            <a:ext cx="3639312" cy="402336"/>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Loss functions (cross-entropy on token sequences) reward word-level accuracy, not intent preservation. Sarcasm survival is never directly optimised.</a:t>
            </a:r>
            <a:endParaRPr lang="en-US" sz="1000" dirty="0"/>
          </a:p>
        </p:txBody>
      </p:sp>
      <p:sp>
        <p:nvSpPr>
          <p:cNvPr id="19" name="Shape 17"/>
          <p:cNvSpPr/>
          <p:nvPr/>
        </p:nvSpPr>
        <p:spPr>
          <a:xfrm>
            <a:off x="4791456" y="3145536"/>
            <a:ext cx="54864" cy="676656"/>
          </a:xfrm>
          <a:prstGeom prst="rect">
            <a:avLst/>
          </a:prstGeom>
          <a:solidFill>
            <a:srgbClr val="2563A8"/>
          </a:solidFill>
          <a:ln w="12700">
            <a:solidFill>
              <a:srgbClr val="2563A8"/>
            </a:solidFill>
            <a:prstDash val="solid"/>
          </a:ln>
        </p:spPr>
        <p:txBody>
          <a:bodyPr/>
          <a:lstStyle/>
          <a:p>
            <a:endParaRPr lang="en-IN"/>
          </a:p>
        </p:txBody>
      </p:sp>
      <p:sp>
        <p:nvSpPr>
          <p:cNvPr id="20" name="Text 18"/>
          <p:cNvSpPr/>
          <p:nvPr/>
        </p:nvSpPr>
        <p:spPr>
          <a:xfrm>
            <a:off x="4919472" y="3145536"/>
            <a:ext cx="3639312" cy="237744"/>
          </a:xfrm>
          <a:prstGeom prst="rect">
            <a:avLst/>
          </a:prstGeom>
          <a:noFill/>
          <a:ln/>
        </p:spPr>
        <p:txBody>
          <a:bodyPr wrap="square" lIns="0" tIns="0" rIns="0" bIns="0"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Contextual cues absent</a:t>
            </a:r>
            <a:endParaRPr lang="en-US" sz="1100" dirty="0"/>
          </a:p>
        </p:txBody>
      </p:sp>
      <p:sp>
        <p:nvSpPr>
          <p:cNvPr id="21" name="Text 19"/>
          <p:cNvSpPr/>
          <p:nvPr/>
        </p:nvSpPr>
        <p:spPr>
          <a:xfrm>
            <a:off x="4919472" y="3383280"/>
            <a:ext cx="3639312" cy="402336"/>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Sarcasm in social media relies on cultural context, hashtags, emoji, and community norms - signals absent in standard training pipelines, including large LLMs.</a:t>
            </a:r>
            <a:endParaRPr lang="en-US" sz="1000" dirty="0"/>
          </a:p>
        </p:txBody>
      </p:sp>
      <p:sp>
        <p:nvSpPr>
          <p:cNvPr id="22" name="Shape 20"/>
          <p:cNvSpPr/>
          <p:nvPr/>
        </p:nvSpPr>
        <p:spPr>
          <a:xfrm>
            <a:off x="4791456" y="3931920"/>
            <a:ext cx="54864" cy="676656"/>
          </a:xfrm>
          <a:prstGeom prst="rect">
            <a:avLst/>
          </a:prstGeom>
          <a:solidFill>
            <a:srgbClr val="2563A8"/>
          </a:solidFill>
          <a:ln w="12700">
            <a:solidFill>
              <a:srgbClr val="2563A8"/>
            </a:solidFill>
            <a:prstDash val="solid"/>
          </a:ln>
        </p:spPr>
        <p:txBody>
          <a:bodyPr/>
          <a:lstStyle/>
          <a:p>
            <a:endParaRPr lang="en-IN"/>
          </a:p>
        </p:txBody>
      </p:sp>
      <p:sp>
        <p:nvSpPr>
          <p:cNvPr id="23" name="Text 21"/>
          <p:cNvSpPr/>
          <p:nvPr/>
        </p:nvSpPr>
        <p:spPr>
          <a:xfrm>
            <a:off x="4919472" y="3931920"/>
            <a:ext cx="3639312" cy="237744"/>
          </a:xfrm>
          <a:prstGeom prst="rect">
            <a:avLst/>
          </a:prstGeom>
          <a:noFill/>
          <a:ln/>
        </p:spPr>
        <p:txBody>
          <a:bodyPr wrap="square" lIns="0" tIns="0" rIns="0" bIns="0"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Scale ≠ pragmatic awareness</a:t>
            </a:r>
            <a:endParaRPr lang="en-US" sz="1100" dirty="0"/>
          </a:p>
        </p:txBody>
      </p:sp>
      <p:sp>
        <p:nvSpPr>
          <p:cNvPr id="24" name="Text 22"/>
          <p:cNvSpPr/>
          <p:nvPr/>
        </p:nvSpPr>
        <p:spPr>
          <a:xfrm>
            <a:off x="4919472" y="4169664"/>
            <a:ext cx="3639312" cy="402336"/>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GPT-4 and LLaMA may paraphrase sarcasm, but without explicit conditioning or fine-tuning they remain inconsistent - and are prohibitively costly to specialise.</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3A5F"/>
          </a:solidFill>
          <a:ln w="12700">
            <a:solidFill>
              <a:srgbClr val="1E3A5F"/>
            </a:solidFill>
            <a:prstDash val="solid"/>
          </a:ln>
        </p:spPr>
        <p:txBody>
          <a:bodyPr/>
          <a:lstStyle/>
          <a:p>
            <a:endParaRPr lang="en-IN"/>
          </a:p>
        </p:txBody>
      </p:sp>
      <p:sp>
        <p:nvSpPr>
          <p:cNvPr id="3" name="Text 1"/>
          <p:cNvSpPr/>
          <p:nvPr/>
        </p:nvSpPr>
        <p:spPr>
          <a:xfrm>
            <a:off x="411480" y="73152"/>
            <a:ext cx="6858000" cy="530352"/>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Existing Approaches &amp; Their Gaps</a:t>
            </a:r>
            <a:endParaRPr lang="en-US" sz="2600" dirty="0"/>
          </a:p>
        </p:txBody>
      </p:sp>
      <p:sp>
        <p:nvSpPr>
          <p:cNvPr id="4" name="Text 2"/>
          <p:cNvSpPr/>
          <p:nvPr/>
        </p:nvSpPr>
        <p:spPr>
          <a:xfrm>
            <a:off x="411480" y="594360"/>
            <a:ext cx="8321040" cy="310896"/>
          </a:xfrm>
          <a:prstGeom prst="rect">
            <a:avLst/>
          </a:prstGeom>
          <a:noFill/>
          <a:ln/>
        </p:spPr>
        <p:txBody>
          <a:bodyPr wrap="square" lIns="0" tIns="0" rIns="0" bIns="0" rtlCol="0" anchor="ctr"/>
          <a:lstStyle/>
          <a:p>
            <a:pPr marL="0" indent="0">
              <a:buNone/>
            </a:pPr>
            <a:r>
              <a:rPr lang="en-US" sz="1200" dirty="0">
                <a:solidFill>
                  <a:srgbClr val="DBEAFE"/>
                </a:solidFill>
                <a:latin typeface="Calibri" pitchFamily="34" charset="0"/>
                <a:ea typeface="Calibri" pitchFamily="34" charset="-122"/>
                <a:cs typeface="Calibri" pitchFamily="34" charset="-120"/>
              </a:rPr>
              <a:t>What current solutions miss - and where our work begins</a:t>
            </a:r>
            <a:endParaRPr lang="en-US" sz="1200" dirty="0"/>
          </a:p>
        </p:txBody>
      </p:sp>
      <p:sp>
        <p:nvSpPr>
          <p:cNvPr id="5" name="Shape 3"/>
          <p:cNvSpPr/>
          <p:nvPr/>
        </p:nvSpPr>
        <p:spPr>
          <a:xfrm>
            <a:off x="411480" y="1078992"/>
            <a:ext cx="2011680" cy="365760"/>
          </a:xfrm>
          <a:prstGeom prst="rect">
            <a:avLst/>
          </a:prstGeom>
          <a:solidFill>
            <a:srgbClr val="1E3A5F"/>
          </a:solidFill>
          <a:ln w="12700">
            <a:solidFill>
              <a:srgbClr val="1E3A5F"/>
            </a:solidFill>
            <a:prstDash val="solid"/>
          </a:ln>
        </p:spPr>
        <p:txBody>
          <a:bodyPr/>
          <a:lstStyle/>
          <a:p>
            <a:endParaRPr lang="en-IN"/>
          </a:p>
        </p:txBody>
      </p:sp>
      <p:sp>
        <p:nvSpPr>
          <p:cNvPr id="6" name="Text 4"/>
          <p:cNvSpPr/>
          <p:nvPr/>
        </p:nvSpPr>
        <p:spPr>
          <a:xfrm>
            <a:off x="502920" y="1078992"/>
            <a:ext cx="187452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Approach</a:t>
            </a:r>
            <a:endParaRPr lang="en-US" sz="1200" dirty="0"/>
          </a:p>
        </p:txBody>
      </p:sp>
      <p:sp>
        <p:nvSpPr>
          <p:cNvPr id="7" name="Shape 5"/>
          <p:cNvSpPr/>
          <p:nvPr/>
        </p:nvSpPr>
        <p:spPr>
          <a:xfrm>
            <a:off x="2514600" y="1078992"/>
            <a:ext cx="2926080" cy="365760"/>
          </a:xfrm>
          <a:prstGeom prst="rect">
            <a:avLst/>
          </a:prstGeom>
          <a:solidFill>
            <a:srgbClr val="1E3A5F"/>
          </a:solidFill>
          <a:ln w="12700">
            <a:solidFill>
              <a:srgbClr val="1E3A5F"/>
            </a:solidFill>
            <a:prstDash val="solid"/>
          </a:ln>
        </p:spPr>
        <p:txBody>
          <a:bodyPr/>
          <a:lstStyle/>
          <a:p>
            <a:endParaRPr lang="en-IN"/>
          </a:p>
        </p:txBody>
      </p:sp>
      <p:sp>
        <p:nvSpPr>
          <p:cNvPr id="8" name="Text 6"/>
          <p:cNvSpPr/>
          <p:nvPr/>
        </p:nvSpPr>
        <p:spPr>
          <a:xfrm>
            <a:off x="2606040" y="1078992"/>
            <a:ext cx="278892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p>
        </p:txBody>
      </p:sp>
      <p:sp>
        <p:nvSpPr>
          <p:cNvPr id="9" name="Shape 7"/>
          <p:cNvSpPr/>
          <p:nvPr/>
        </p:nvSpPr>
        <p:spPr>
          <a:xfrm>
            <a:off x="5532120" y="1078992"/>
            <a:ext cx="3200400" cy="365760"/>
          </a:xfrm>
          <a:prstGeom prst="rect">
            <a:avLst/>
          </a:prstGeom>
          <a:solidFill>
            <a:srgbClr val="1E3A5F"/>
          </a:solidFill>
          <a:ln w="12700">
            <a:solidFill>
              <a:srgbClr val="1E3A5F"/>
            </a:solidFill>
            <a:prstDash val="solid"/>
          </a:ln>
        </p:spPr>
        <p:txBody>
          <a:bodyPr/>
          <a:lstStyle/>
          <a:p>
            <a:endParaRPr lang="en-IN"/>
          </a:p>
        </p:txBody>
      </p:sp>
      <p:sp>
        <p:nvSpPr>
          <p:cNvPr id="10" name="Text 8"/>
          <p:cNvSpPr/>
          <p:nvPr/>
        </p:nvSpPr>
        <p:spPr>
          <a:xfrm>
            <a:off x="5623560" y="1078992"/>
            <a:ext cx="3063240" cy="36576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Critical Gap</a:t>
            </a:r>
            <a:endParaRPr lang="en-US" sz="1200" dirty="0"/>
          </a:p>
        </p:txBody>
      </p:sp>
      <p:sp>
        <p:nvSpPr>
          <p:cNvPr id="11" name="Shape 9"/>
          <p:cNvSpPr/>
          <p:nvPr/>
        </p:nvSpPr>
        <p:spPr>
          <a:xfrm>
            <a:off x="411480" y="1472184"/>
            <a:ext cx="2011680" cy="749808"/>
          </a:xfrm>
          <a:prstGeom prst="rect">
            <a:avLst/>
          </a:prstGeom>
          <a:solidFill>
            <a:srgbClr val="FFFFFF"/>
          </a:solidFill>
          <a:ln w="12700">
            <a:solidFill>
              <a:srgbClr val="CBD5E1"/>
            </a:solidFill>
            <a:prstDash val="solid"/>
          </a:ln>
        </p:spPr>
        <p:txBody>
          <a:bodyPr/>
          <a:lstStyle/>
          <a:p>
            <a:endParaRPr lang="en-IN"/>
          </a:p>
        </p:txBody>
      </p:sp>
      <p:sp>
        <p:nvSpPr>
          <p:cNvPr id="12" name="Shape 10"/>
          <p:cNvSpPr/>
          <p:nvPr/>
        </p:nvSpPr>
        <p:spPr>
          <a:xfrm>
            <a:off x="2514600" y="1472184"/>
            <a:ext cx="2926080" cy="749808"/>
          </a:xfrm>
          <a:prstGeom prst="rect">
            <a:avLst/>
          </a:prstGeom>
          <a:solidFill>
            <a:srgbClr val="FFFFFF"/>
          </a:solidFill>
          <a:ln w="12700">
            <a:solidFill>
              <a:srgbClr val="CBD5E1"/>
            </a:solidFill>
            <a:prstDash val="solid"/>
          </a:ln>
        </p:spPr>
        <p:txBody>
          <a:bodyPr/>
          <a:lstStyle/>
          <a:p>
            <a:endParaRPr lang="en-IN"/>
          </a:p>
        </p:txBody>
      </p:sp>
      <p:sp>
        <p:nvSpPr>
          <p:cNvPr id="13" name="Shape 11"/>
          <p:cNvSpPr/>
          <p:nvPr/>
        </p:nvSpPr>
        <p:spPr>
          <a:xfrm>
            <a:off x="5532120" y="1472184"/>
            <a:ext cx="3200400" cy="749808"/>
          </a:xfrm>
          <a:prstGeom prst="rect">
            <a:avLst/>
          </a:prstGeom>
          <a:solidFill>
            <a:srgbClr val="FFFFFF"/>
          </a:solidFill>
          <a:ln w="12700">
            <a:solidFill>
              <a:srgbClr val="CBD5E1"/>
            </a:solidFill>
            <a:prstDash val="solid"/>
          </a:ln>
        </p:spPr>
        <p:txBody>
          <a:bodyPr/>
          <a:lstStyle/>
          <a:p>
            <a:endParaRPr lang="en-IN"/>
          </a:p>
        </p:txBody>
      </p:sp>
      <p:sp>
        <p:nvSpPr>
          <p:cNvPr id="14" name="Text 12"/>
          <p:cNvSpPr/>
          <p:nvPr/>
        </p:nvSpPr>
        <p:spPr>
          <a:xfrm>
            <a:off x="502920" y="1517904"/>
            <a:ext cx="1828800" cy="658368"/>
          </a:xfrm>
          <a:prstGeom prst="rect">
            <a:avLst/>
          </a:prstGeom>
          <a:noFill/>
          <a:ln/>
        </p:spPr>
        <p:txBody>
          <a:bodyPr wrap="square" lIns="0" tIns="0" rIns="0" bIns="0"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Standard NMT</a:t>
            </a:r>
            <a:endParaRPr lang="en-US" sz="1000" dirty="0"/>
          </a:p>
          <a:p>
            <a:pPr marL="0" indent="0">
              <a:buNone/>
            </a:pPr>
            <a:r>
              <a:rPr lang="en-US" sz="1000" b="1" dirty="0">
                <a:solidFill>
                  <a:srgbClr val="1E3A5F"/>
                </a:solidFill>
                <a:latin typeface="Calibri" pitchFamily="34" charset="0"/>
                <a:ea typeface="Calibri" pitchFamily="34" charset="-122"/>
                <a:cs typeface="Calibri" pitchFamily="34" charset="-120"/>
              </a:rPr>
              <a:t>(MarianMT, Google Translate)</a:t>
            </a:r>
            <a:endParaRPr lang="en-US" sz="1000" dirty="0"/>
          </a:p>
        </p:txBody>
      </p:sp>
      <p:sp>
        <p:nvSpPr>
          <p:cNvPr id="15" name="Text 13"/>
          <p:cNvSpPr/>
          <p:nvPr/>
        </p:nvSpPr>
        <p:spPr>
          <a:xfrm>
            <a:off x="2606040" y="1517904"/>
            <a:ext cx="2743200" cy="65836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Translates words and grammar using encoder-decoder architecture trained on parallel sentence pairs.</a:t>
            </a:r>
            <a:endParaRPr lang="en-US" sz="1000" dirty="0"/>
          </a:p>
        </p:txBody>
      </p:sp>
      <p:sp>
        <p:nvSpPr>
          <p:cNvPr id="16" name="Text 14"/>
          <p:cNvSpPr/>
          <p:nvPr/>
        </p:nvSpPr>
        <p:spPr>
          <a:xfrm>
            <a:off x="5623560" y="1517904"/>
            <a:ext cx="3017520" cy="658368"/>
          </a:xfrm>
          <a:prstGeom prst="rect">
            <a:avLst/>
          </a:prstGeom>
          <a:noFill/>
          <a:ln/>
        </p:spPr>
        <p:txBody>
          <a:bodyPr wrap="square" lIns="0" tIns="0" rIns="0" bIns="0" rtlCol="0" anchor="ctr"/>
          <a:lstStyle/>
          <a:p>
            <a:pPr marL="0" indent="0">
              <a:buNone/>
            </a:pPr>
            <a:r>
              <a:rPr lang="en-US" sz="1000" dirty="0">
                <a:solidFill>
                  <a:srgbClr val="991B1B"/>
                </a:solidFill>
                <a:latin typeface="Calibri" pitchFamily="34" charset="0"/>
                <a:ea typeface="Calibri" pitchFamily="34" charset="-122"/>
                <a:cs typeface="Calibri" pitchFamily="34" charset="-120"/>
              </a:rPr>
              <a:t>Zero awareness of pragmatic signals. Sarcasm maps identically to literal text - sentiment and intent routinely inverted.</a:t>
            </a:r>
            <a:endParaRPr lang="en-US" sz="1000" dirty="0"/>
          </a:p>
        </p:txBody>
      </p:sp>
      <p:sp>
        <p:nvSpPr>
          <p:cNvPr id="17" name="Shape 15"/>
          <p:cNvSpPr/>
          <p:nvPr/>
        </p:nvSpPr>
        <p:spPr>
          <a:xfrm>
            <a:off x="411480" y="2240280"/>
            <a:ext cx="2011680" cy="749808"/>
          </a:xfrm>
          <a:prstGeom prst="rect">
            <a:avLst/>
          </a:prstGeom>
          <a:solidFill>
            <a:srgbClr val="F4F6F9"/>
          </a:solidFill>
          <a:ln w="12700">
            <a:solidFill>
              <a:srgbClr val="CBD5E1"/>
            </a:solidFill>
            <a:prstDash val="solid"/>
          </a:ln>
        </p:spPr>
        <p:txBody>
          <a:bodyPr/>
          <a:lstStyle/>
          <a:p>
            <a:endParaRPr lang="en-IN"/>
          </a:p>
        </p:txBody>
      </p:sp>
      <p:sp>
        <p:nvSpPr>
          <p:cNvPr id="18" name="Shape 16"/>
          <p:cNvSpPr/>
          <p:nvPr/>
        </p:nvSpPr>
        <p:spPr>
          <a:xfrm>
            <a:off x="2514600" y="2240280"/>
            <a:ext cx="2926080" cy="749808"/>
          </a:xfrm>
          <a:prstGeom prst="rect">
            <a:avLst/>
          </a:prstGeom>
          <a:solidFill>
            <a:srgbClr val="F4F6F9"/>
          </a:solidFill>
          <a:ln w="12700">
            <a:solidFill>
              <a:srgbClr val="CBD5E1"/>
            </a:solidFill>
            <a:prstDash val="solid"/>
          </a:ln>
        </p:spPr>
        <p:txBody>
          <a:bodyPr/>
          <a:lstStyle/>
          <a:p>
            <a:endParaRPr lang="en-IN"/>
          </a:p>
        </p:txBody>
      </p:sp>
      <p:sp>
        <p:nvSpPr>
          <p:cNvPr id="19" name="Shape 17"/>
          <p:cNvSpPr/>
          <p:nvPr/>
        </p:nvSpPr>
        <p:spPr>
          <a:xfrm>
            <a:off x="5532120" y="2240280"/>
            <a:ext cx="3200400" cy="749808"/>
          </a:xfrm>
          <a:prstGeom prst="rect">
            <a:avLst/>
          </a:prstGeom>
          <a:solidFill>
            <a:srgbClr val="F4F6F9"/>
          </a:solidFill>
          <a:ln w="12700">
            <a:solidFill>
              <a:srgbClr val="CBD5E1"/>
            </a:solidFill>
            <a:prstDash val="solid"/>
          </a:ln>
        </p:spPr>
        <p:txBody>
          <a:bodyPr/>
          <a:lstStyle/>
          <a:p>
            <a:endParaRPr lang="en-IN"/>
          </a:p>
        </p:txBody>
      </p:sp>
      <p:sp>
        <p:nvSpPr>
          <p:cNvPr id="20" name="Text 18"/>
          <p:cNvSpPr/>
          <p:nvPr/>
        </p:nvSpPr>
        <p:spPr>
          <a:xfrm>
            <a:off x="502920" y="2286000"/>
            <a:ext cx="1828800" cy="658368"/>
          </a:xfrm>
          <a:prstGeom prst="rect">
            <a:avLst/>
          </a:prstGeom>
          <a:noFill/>
          <a:ln/>
        </p:spPr>
        <p:txBody>
          <a:bodyPr wrap="square" lIns="0" tIns="0" rIns="0" bIns="0"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Sentiment-Aware NMT</a:t>
            </a:r>
            <a:endParaRPr lang="en-US" sz="1000" dirty="0"/>
          </a:p>
        </p:txBody>
      </p:sp>
      <p:sp>
        <p:nvSpPr>
          <p:cNvPr id="21" name="Text 19"/>
          <p:cNvSpPr/>
          <p:nvPr/>
        </p:nvSpPr>
        <p:spPr>
          <a:xfrm>
            <a:off x="2606040" y="2286000"/>
            <a:ext cx="2743200" cy="65836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Appends a sentiment label (+/−) to guide translation toward positive or negative tone.</a:t>
            </a:r>
            <a:endParaRPr lang="en-US" sz="1000" dirty="0"/>
          </a:p>
        </p:txBody>
      </p:sp>
      <p:sp>
        <p:nvSpPr>
          <p:cNvPr id="22" name="Text 20"/>
          <p:cNvSpPr/>
          <p:nvPr/>
        </p:nvSpPr>
        <p:spPr>
          <a:xfrm>
            <a:off x="5623560" y="2286000"/>
            <a:ext cx="3017520" cy="658368"/>
          </a:xfrm>
          <a:prstGeom prst="rect">
            <a:avLst/>
          </a:prstGeom>
          <a:noFill/>
          <a:ln/>
        </p:spPr>
        <p:txBody>
          <a:bodyPr wrap="square" lIns="0" tIns="0" rIns="0" bIns="0" rtlCol="0" anchor="ctr"/>
          <a:lstStyle/>
          <a:p>
            <a:pPr marL="0" indent="0">
              <a:buNone/>
            </a:pPr>
            <a:r>
              <a:rPr lang="en-US" sz="1000" dirty="0">
                <a:solidFill>
                  <a:srgbClr val="991B1B"/>
                </a:solidFill>
                <a:latin typeface="Calibri" pitchFamily="34" charset="0"/>
                <a:ea typeface="Calibri" pitchFamily="34" charset="-122"/>
                <a:cs typeface="Calibri" pitchFamily="34" charset="-120"/>
              </a:rPr>
              <a:t>Cannot distinguish sarcasm (surface positive, true negative) from genuine sentiment. Labels contradict each other.</a:t>
            </a:r>
            <a:endParaRPr lang="en-US" sz="1000" dirty="0"/>
          </a:p>
        </p:txBody>
      </p:sp>
      <p:sp>
        <p:nvSpPr>
          <p:cNvPr id="23" name="Shape 21"/>
          <p:cNvSpPr/>
          <p:nvPr/>
        </p:nvSpPr>
        <p:spPr>
          <a:xfrm>
            <a:off x="411480" y="3008376"/>
            <a:ext cx="2011680" cy="749808"/>
          </a:xfrm>
          <a:prstGeom prst="rect">
            <a:avLst/>
          </a:prstGeom>
          <a:solidFill>
            <a:srgbClr val="FFFFFF"/>
          </a:solidFill>
          <a:ln w="12700">
            <a:solidFill>
              <a:srgbClr val="CBD5E1"/>
            </a:solidFill>
            <a:prstDash val="solid"/>
          </a:ln>
        </p:spPr>
        <p:txBody>
          <a:bodyPr/>
          <a:lstStyle/>
          <a:p>
            <a:endParaRPr lang="en-IN"/>
          </a:p>
        </p:txBody>
      </p:sp>
      <p:sp>
        <p:nvSpPr>
          <p:cNvPr id="24" name="Shape 22"/>
          <p:cNvSpPr/>
          <p:nvPr/>
        </p:nvSpPr>
        <p:spPr>
          <a:xfrm>
            <a:off x="2514600" y="3008376"/>
            <a:ext cx="2926080" cy="749808"/>
          </a:xfrm>
          <a:prstGeom prst="rect">
            <a:avLst/>
          </a:prstGeom>
          <a:solidFill>
            <a:srgbClr val="FFFFFF"/>
          </a:solidFill>
          <a:ln w="12700">
            <a:solidFill>
              <a:srgbClr val="CBD5E1"/>
            </a:solidFill>
            <a:prstDash val="solid"/>
          </a:ln>
        </p:spPr>
        <p:txBody>
          <a:bodyPr/>
          <a:lstStyle/>
          <a:p>
            <a:endParaRPr lang="en-IN"/>
          </a:p>
        </p:txBody>
      </p:sp>
      <p:sp>
        <p:nvSpPr>
          <p:cNvPr id="25" name="Shape 23"/>
          <p:cNvSpPr/>
          <p:nvPr/>
        </p:nvSpPr>
        <p:spPr>
          <a:xfrm>
            <a:off x="5532120" y="3008376"/>
            <a:ext cx="3200400" cy="749808"/>
          </a:xfrm>
          <a:prstGeom prst="rect">
            <a:avLst/>
          </a:prstGeom>
          <a:solidFill>
            <a:srgbClr val="FFFFFF"/>
          </a:solidFill>
          <a:ln w="12700">
            <a:solidFill>
              <a:srgbClr val="CBD5E1"/>
            </a:solidFill>
            <a:prstDash val="solid"/>
          </a:ln>
        </p:spPr>
        <p:txBody>
          <a:bodyPr/>
          <a:lstStyle/>
          <a:p>
            <a:endParaRPr lang="en-IN"/>
          </a:p>
        </p:txBody>
      </p:sp>
      <p:sp>
        <p:nvSpPr>
          <p:cNvPr id="26" name="Text 24"/>
          <p:cNvSpPr/>
          <p:nvPr/>
        </p:nvSpPr>
        <p:spPr>
          <a:xfrm>
            <a:off x="502920" y="3054096"/>
            <a:ext cx="1828800" cy="658368"/>
          </a:xfrm>
          <a:prstGeom prst="rect">
            <a:avLst/>
          </a:prstGeom>
          <a:noFill/>
          <a:ln/>
        </p:spPr>
        <p:txBody>
          <a:bodyPr wrap="square" lIns="0" tIns="0" rIns="0" bIns="0"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Multilingual LLMs</a:t>
            </a:r>
            <a:endParaRPr lang="en-US" sz="1000" dirty="0"/>
          </a:p>
          <a:p>
            <a:pPr marL="0" indent="0">
              <a:buNone/>
            </a:pPr>
            <a:r>
              <a:rPr lang="en-US" sz="1000" b="1" dirty="0">
                <a:solidFill>
                  <a:srgbClr val="1E3A5F"/>
                </a:solidFill>
                <a:latin typeface="Calibri" pitchFamily="34" charset="0"/>
                <a:ea typeface="Calibri" pitchFamily="34" charset="-122"/>
                <a:cs typeface="Calibri" pitchFamily="34" charset="-120"/>
              </a:rPr>
              <a:t>(mBART, mT5, NLLB)</a:t>
            </a:r>
            <a:endParaRPr lang="en-US" sz="1000" dirty="0"/>
          </a:p>
        </p:txBody>
      </p:sp>
      <p:sp>
        <p:nvSpPr>
          <p:cNvPr id="27" name="Text 25"/>
          <p:cNvSpPr/>
          <p:nvPr/>
        </p:nvSpPr>
        <p:spPr>
          <a:xfrm>
            <a:off x="2606040" y="3054096"/>
            <a:ext cx="2743200" cy="65836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Large-scale pre-training across many languages; strong zero-shot translation.</a:t>
            </a:r>
            <a:endParaRPr lang="en-US" sz="1000" dirty="0"/>
          </a:p>
        </p:txBody>
      </p:sp>
      <p:sp>
        <p:nvSpPr>
          <p:cNvPr id="28" name="Text 26"/>
          <p:cNvSpPr/>
          <p:nvPr/>
        </p:nvSpPr>
        <p:spPr>
          <a:xfrm>
            <a:off x="5623560" y="3054096"/>
            <a:ext cx="3017520" cy="658368"/>
          </a:xfrm>
          <a:prstGeom prst="rect">
            <a:avLst/>
          </a:prstGeom>
          <a:noFill/>
          <a:ln/>
        </p:spPr>
        <p:txBody>
          <a:bodyPr wrap="square" lIns="0" tIns="0" rIns="0" bIns="0" rtlCol="0" anchor="ctr"/>
          <a:lstStyle/>
          <a:p>
            <a:pPr marL="0" indent="0">
              <a:buNone/>
            </a:pPr>
            <a:r>
              <a:rPr lang="en-US" sz="1000" dirty="0">
                <a:solidFill>
                  <a:srgbClr val="991B1B"/>
                </a:solidFill>
                <a:latin typeface="Calibri" pitchFamily="34" charset="0"/>
                <a:ea typeface="Calibri" pitchFamily="34" charset="-122"/>
                <a:cs typeface="Calibri" pitchFamily="34" charset="-120"/>
              </a:rPr>
              <a:t>No explicit pragmatic conditioning. Sarcasm data absent from training; no mechanism to signal or preserve it.</a:t>
            </a:r>
            <a:endParaRPr lang="en-US" sz="1000" dirty="0"/>
          </a:p>
        </p:txBody>
      </p:sp>
      <p:sp>
        <p:nvSpPr>
          <p:cNvPr id="29" name="Shape 27"/>
          <p:cNvSpPr/>
          <p:nvPr/>
        </p:nvSpPr>
        <p:spPr>
          <a:xfrm>
            <a:off x="411480" y="3776472"/>
            <a:ext cx="2011680" cy="749808"/>
          </a:xfrm>
          <a:prstGeom prst="rect">
            <a:avLst/>
          </a:prstGeom>
          <a:solidFill>
            <a:srgbClr val="F4F6F9"/>
          </a:solidFill>
          <a:ln w="12700">
            <a:solidFill>
              <a:srgbClr val="CBD5E1"/>
            </a:solidFill>
            <a:prstDash val="solid"/>
          </a:ln>
        </p:spPr>
        <p:txBody>
          <a:bodyPr/>
          <a:lstStyle/>
          <a:p>
            <a:endParaRPr lang="en-IN"/>
          </a:p>
        </p:txBody>
      </p:sp>
      <p:sp>
        <p:nvSpPr>
          <p:cNvPr id="30" name="Shape 28"/>
          <p:cNvSpPr/>
          <p:nvPr/>
        </p:nvSpPr>
        <p:spPr>
          <a:xfrm>
            <a:off x="2514600" y="3776472"/>
            <a:ext cx="2926080" cy="749808"/>
          </a:xfrm>
          <a:prstGeom prst="rect">
            <a:avLst/>
          </a:prstGeom>
          <a:solidFill>
            <a:srgbClr val="F4F6F9"/>
          </a:solidFill>
          <a:ln w="12700">
            <a:solidFill>
              <a:srgbClr val="CBD5E1"/>
            </a:solidFill>
            <a:prstDash val="solid"/>
          </a:ln>
        </p:spPr>
        <p:txBody>
          <a:bodyPr/>
          <a:lstStyle/>
          <a:p>
            <a:endParaRPr lang="en-IN"/>
          </a:p>
        </p:txBody>
      </p:sp>
      <p:sp>
        <p:nvSpPr>
          <p:cNvPr id="31" name="Shape 29"/>
          <p:cNvSpPr/>
          <p:nvPr/>
        </p:nvSpPr>
        <p:spPr>
          <a:xfrm>
            <a:off x="5532120" y="3776472"/>
            <a:ext cx="3200400" cy="749808"/>
          </a:xfrm>
          <a:prstGeom prst="rect">
            <a:avLst/>
          </a:prstGeom>
          <a:solidFill>
            <a:srgbClr val="F4F6F9"/>
          </a:solidFill>
          <a:ln w="12700">
            <a:solidFill>
              <a:srgbClr val="CBD5E1"/>
            </a:solidFill>
            <a:prstDash val="solid"/>
          </a:ln>
        </p:spPr>
        <p:txBody>
          <a:bodyPr/>
          <a:lstStyle/>
          <a:p>
            <a:endParaRPr lang="en-IN"/>
          </a:p>
        </p:txBody>
      </p:sp>
      <p:sp>
        <p:nvSpPr>
          <p:cNvPr id="32" name="Text 30"/>
          <p:cNvSpPr/>
          <p:nvPr/>
        </p:nvSpPr>
        <p:spPr>
          <a:xfrm>
            <a:off x="502920" y="3822192"/>
            <a:ext cx="1828800" cy="658368"/>
          </a:xfrm>
          <a:prstGeom prst="rect">
            <a:avLst/>
          </a:prstGeom>
          <a:noFill/>
          <a:ln/>
        </p:spPr>
        <p:txBody>
          <a:bodyPr wrap="square" lIns="0" tIns="0" rIns="0" bIns="0"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GPT-4 / LLaMA (prompted)</a:t>
            </a:r>
            <a:endParaRPr lang="en-US" sz="1000" dirty="0"/>
          </a:p>
        </p:txBody>
      </p:sp>
      <p:sp>
        <p:nvSpPr>
          <p:cNvPr id="33" name="Text 31"/>
          <p:cNvSpPr/>
          <p:nvPr/>
        </p:nvSpPr>
        <p:spPr>
          <a:xfrm>
            <a:off x="2606040" y="3822192"/>
            <a:ext cx="2743200" cy="658368"/>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Instruction-following; can be asked to preserve sarcasm in a prompt.</a:t>
            </a:r>
            <a:endParaRPr lang="en-US" sz="1000" dirty="0"/>
          </a:p>
        </p:txBody>
      </p:sp>
      <p:sp>
        <p:nvSpPr>
          <p:cNvPr id="34" name="Text 32"/>
          <p:cNvSpPr/>
          <p:nvPr/>
        </p:nvSpPr>
        <p:spPr>
          <a:xfrm>
            <a:off x="5623560" y="3822192"/>
            <a:ext cx="3017520" cy="658368"/>
          </a:xfrm>
          <a:prstGeom prst="rect">
            <a:avLst/>
          </a:prstGeom>
          <a:noFill/>
          <a:ln/>
        </p:spPr>
        <p:txBody>
          <a:bodyPr wrap="square" lIns="0" tIns="0" rIns="0" bIns="0" rtlCol="0" anchor="ctr"/>
          <a:lstStyle/>
          <a:p>
            <a:pPr marL="0" indent="0">
              <a:buNone/>
            </a:pPr>
            <a:r>
              <a:rPr lang="en-US" sz="1000" dirty="0">
                <a:solidFill>
                  <a:srgbClr val="991B1B"/>
                </a:solidFill>
                <a:latin typeface="Calibri" pitchFamily="34" charset="0"/>
                <a:ea typeface="Calibri" pitchFamily="34" charset="-122"/>
                <a:cs typeface="Calibri" pitchFamily="34" charset="-120"/>
              </a:rPr>
              <a:t>Inconsistent without fine-tuning; cost-prohibitive for dedicated translation at scale; not reproducible on commodity hardware.</a:t>
            </a:r>
            <a:endParaRPr lang="en-US" sz="1000" dirty="0"/>
          </a:p>
        </p:txBody>
      </p:sp>
      <p:sp>
        <p:nvSpPr>
          <p:cNvPr id="35" name="Shape 33"/>
          <p:cNvSpPr/>
          <p:nvPr/>
        </p:nvSpPr>
        <p:spPr>
          <a:xfrm>
            <a:off x="411480" y="4617720"/>
            <a:ext cx="8321040" cy="347472"/>
          </a:xfrm>
          <a:prstGeom prst="rect">
            <a:avLst/>
          </a:prstGeom>
          <a:solidFill>
            <a:srgbClr val="EFF6FF"/>
          </a:solidFill>
          <a:ln w="12700">
            <a:solidFill>
              <a:srgbClr val="93C5FD"/>
            </a:solidFill>
            <a:prstDash val="solid"/>
          </a:ln>
        </p:spPr>
        <p:txBody>
          <a:bodyPr/>
          <a:lstStyle/>
          <a:p>
            <a:endParaRPr lang="en-IN"/>
          </a:p>
        </p:txBody>
      </p:sp>
      <p:sp>
        <p:nvSpPr>
          <p:cNvPr id="36" name="Text 34"/>
          <p:cNvSpPr/>
          <p:nvPr/>
        </p:nvSpPr>
        <p:spPr>
          <a:xfrm>
            <a:off x="548640" y="4636008"/>
            <a:ext cx="8138160" cy="310896"/>
          </a:xfrm>
          <a:prstGeom prst="rect">
            <a:avLst/>
          </a:prstGeom>
          <a:noFill/>
          <a:ln/>
        </p:spPr>
        <p:txBody>
          <a:bodyPr wrap="square" lIns="0" tIns="0" rIns="0" bIns="0" rtlCol="0" anchor="ctr"/>
          <a:lstStyle/>
          <a:p>
            <a:pPr marL="0" indent="0" algn="ctr">
              <a:buNone/>
            </a:pPr>
            <a:r>
              <a:rPr lang="en-US" sz="1100" b="1" dirty="0">
                <a:solidFill>
                  <a:srgbClr val="1E3A5F"/>
                </a:solidFill>
                <a:latin typeface="Calibri" pitchFamily="34" charset="0"/>
                <a:ea typeface="Calibri" pitchFamily="34" charset="-122"/>
                <a:cs typeface="Calibri" pitchFamily="34" charset="-120"/>
              </a:rPr>
              <a:t>Gap: No existing system explicitly conditions translation on detected sarcasm and directly optimises for pragmatic preservation.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3A5F"/>
          </a:solidFill>
          <a:ln w="12700">
            <a:solidFill>
              <a:srgbClr val="1E3A5F"/>
            </a:solidFill>
            <a:prstDash val="solid"/>
          </a:ln>
        </p:spPr>
        <p:txBody>
          <a:bodyPr/>
          <a:lstStyle/>
          <a:p>
            <a:endParaRPr lang="en-IN"/>
          </a:p>
        </p:txBody>
      </p:sp>
      <p:sp>
        <p:nvSpPr>
          <p:cNvPr id="3" name="Text 1"/>
          <p:cNvSpPr/>
          <p:nvPr/>
        </p:nvSpPr>
        <p:spPr>
          <a:xfrm>
            <a:off x="411480" y="73152"/>
            <a:ext cx="6858000" cy="530352"/>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Our Solution: A Multi-Stage Pragmatic Pipeline</a:t>
            </a:r>
            <a:endParaRPr lang="en-US" sz="2600" dirty="0"/>
          </a:p>
        </p:txBody>
      </p:sp>
      <p:sp>
        <p:nvSpPr>
          <p:cNvPr id="4" name="Text 2"/>
          <p:cNvSpPr/>
          <p:nvPr/>
        </p:nvSpPr>
        <p:spPr>
          <a:xfrm>
            <a:off x="411480" y="594360"/>
            <a:ext cx="8321040" cy="310896"/>
          </a:xfrm>
          <a:prstGeom prst="rect">
            <a:avLst/>
          </a:prstGeom>
          <a:noFill/>
          <a:ln/>
        </p:spPr>
        <p:txBody>
          <a:bodyPr wrap="square" lIns="0" tIns="0" rIns="0" bIns="0" rtlCol="0" anchor="ctr"/>
          <a:lstStyle/>
          <a:p>
            <a:pPr marL="0" indent="0">
              <a:buNone/>
            </a:pPr>
            <a:r>
              <a:rPr lang="en-US" sz="1200" dirty="0">
                <a:solidFill>
                  <a:srgbClr val="DBEAFE"/>
                </a:solidFill>
                <a:latin typeface="Calibri" pitchFamily="34" charset="0"/>
                <a:ea typeface="Calibri" pitchFamily="34" charset="-122"/>
                <a:cs typeface="Calibri" pitchFamily="34" charset="-120"/>
              </a:rPr>
              <a:t>Four novel techniques - applied end-to-end on accessible hardware</a:t>
            </a:r>
            <a:endParaRPr lang="en-US" sz="1200" dirty="0"/>
          </a:p>
        </p:txBody>
      </p:sp>
      <p:sp>
        <p:nvSpPr>
          <p:cNvPr id="5" name="Shape 3"/>
          <p:cNvSpPr/>
          <p:nvPr/>
        </p:nvSpPr>
        <p:spPr>
          <a:xfrm>
            <a:off x="411480" y="1078992"/>
            <a:ext cx="4069080" cy="1874520"/>
          </a:xfrm>
          <a:prstGeom prst="rect">
            <a:avLst/>
          </a:prstGeom>
          <a:solidFill>
            <a:srgbClr val="FFFFFF"/>
          </a:solidFill>
          <a:ln w="12700">
            <a:solidFill>
              <a:srgbClr val="D1D5DB"/>
            </a:solidFill>
            <a:prstDash val="solid"/>
          </a:ln>
          <a:effectLst>
            <a:outerShdw blurRad="50800" dist="12700" dir="8100000" algn="bl" rotWithShape="0">
              <a:srgbClr val="000000">
                <a:alpha val="7000"/>
              </a:srgbClr>
            </a:outerShdw>
          </a:effectLst>
        </p:spPr>
        <p:txBody>
          <a:bodyPr/>
          <a:lstStyle/>
          <a:p>
            <a:endParaRPr lang="en-IN"/>
          </a:p>
        </p:txBody>
      </p:sp>
      <p:sp>
        <p:nvSpPr>
          <p:cNvPr id="6" name="Shape 4"/>
          <p:cNvSpPr/>
          <p:nvPr/>
        </p:nvSpPr>
        <p:spPr>
          <a:xfrm>
            <a:off x="411480" y="1078992"/>
            <a:ext cx="64008" cy="1874520"/>
          </a:xfrm>
          <a:prstGeom prst="rect">
            <a:avLst/>
          </a:prstGeom>
          <a:solidFill>
            <a:srgbClr val="2563A8"/>
          </a:solidFill>
          <a:ln w="12700">
            <a:solidFill>
              <a:srgbClr val="2563A8"/>
            </a:solidFill>
            <a:prstDash val="solid"/>
          </a:ln>
        </p:spPr>
        <p:txBody>
          <a:bodyPr/>
          <a:lstStyle/>
          <a:p>
            <a:endParaRPr lang="en-IN"/>
          </a:p>
        </p:txBody>
      </p:sp>
      <p:sp>
        <p:nvSpPr>
          <p:cNvPr id="7" name="Shape 5"/>
          <p:cNvSpPr/>
          <p:nvPr/>
        </p:nvSpPr>
        <p:spPr>
          <a:xfrm>
            <a:off x="548640" y="1188720"/>
            <a:ext cx="329184" cy="329184"/>
          </a:xfrm>
          <a:prstGeom prst="ellipse">
            <a:avLst/>
          </a:prstGeom>
          <a:solidFill>
            <a:srgbClr val="1E3A5F"/>
          </a:solidFill>
          <a:ln w="12700">
            <a:solidFill>
              <a:srgbClr val="1E3A5F"/>
            </a:solidFill>
            <a:prstDash val="solid"/>
          </a:ln>
        </p:spPr>
        <p:txBody>
          <a:bodyPr/>
          <a:lstStyle/>
          <a:p>
            <a:endParaRPr lang="en-IN"/>
          </a:p>
        </p:txBody>
      </p:sp>
      <p:sp>
        <p:nvSpPr>
          <p:cNvPr id="8" name="Text 6"/>
          <p:cNvSpPr/>
          <p:nvPr/>
        </p:nvSpPr>
        <p:spPr>
          <a:xfrm>
            <a:off x="548640" y="118872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Shape 7"/>
          <p:cNvSpPr/>
          <p:nvPr/>
        </p:nvSpPr>
        <p:spPr>
          <a:xfrm>
            <a:off x="941832" y="1216152"/>
            <a:ext cx="548640" cy="201168"/>
          </a:xfrm>
          <a:prstGeom prst="rect">
            <a:avLst/>
          </a:prstGeom>
          <a:solidFill>
            <a:srgbClr val="DBEAFE"/>
          </a:solidFill>
          <a:ln w="12700">
            <a:solidFill>
              <a:srgbClr val="93C5FD"/>
            </a:solidFill>
            <a:prstDash val="solid"/>
          </a:ln>
        </p:spPr>
        <p:txBody>
          <a:bodyPr/>
          <a:lstStyle/>
          <a:p>
            <a:endParaRPr lang="en-IN"/>
          </a:p>
        </p:txBody>
      </p:sp>
      <p:sp>
        <p:nvSpPr>
          <p:cNvPr id="10" name="Text 8"/>
          <p:cNvSpPr/>
          <p:nvPr/>
        </p:nvSpPr>
        <p:spPr>
          <a:xfrm>
            <a:off x="941832" y="1216152"/>
            <a:ext cx="548640" cy="201168"/>
          </a:xfrm>
          <a:prstGeom prst="rect">
            <a:avLst/>
          </a:prstGeom>
          <a:noFill/>
          <a:ln/>
        </p:spPr>
        <p:txBody>
          <a:bodyPr wrap="square" lIns="0" tIns="0" rIns="0" bIns="0" rtlCol="0" anchor="ctr"/>
          <a:lstStyle/>
          <a:p>
            <a:pPr marL="0" indent="0" algn="ctr">
              <a:buNone/>
            </a:pPr>
            <a:r>
              <a:rPr lang="en-US" sz="800" b="1" dirty="0">
                <a:solidFill>
                  <a:srgbClr val="2563A8"/>
                </a:solidFill>
                <a:latin typeface="Calibri" pitchFamily="34" charset="0"/>
                <a:ea typeface="Calibri" pitchFamily="34" charset="-122"/>
                <a:cs typeface="Calibri" pitchFamily="34" charset="-120"/>
              </a:rPr>
              <a:t>Novel</a:t>
            </a:r>
            <a:endParaRPr lang="en-US" sz="800" dirty="0"/>
          </a:p>
        </p:txBody>
      </p:sp>
      <p:sp>
        <p:nvSpPr>
          <p:cNvPr id="11" name="Text 9"/>
          <p:cNvSpPr/>
          <p:nvPr/>
        </p:nvSpPr>
        <p:spPr>
          <a:xfrm>
            <a:off x="576072" y="1481328"/>
            <a:ext cx="3813048" cy="329184"/>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Sarcasm-Enriched Corpus</a:t>
            </a:r>
            <a:endParaRPr lang="en-US" sz="1200" dirty="0"/>
          </a:p>
        </p:txBody>
      </p:sp>
      <p:sp>
        <p:nvSpPr>
          <p:cNvPr id="12" name="Text 10"/>
          <p:cNvSpPr/>
          <p:nvPr/>
        </p:nvSpPr>
        <p:spPr>
          <a:xfrm>
            <a:off x="576072" y="1810512"/>
            <a:ext cx="3813048" cy="1042416"/>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Bridged the data gap: used a fine-tuned RoBERTa detector (78% acc.) to label tweets, then auto-translated them to construct a parallel corpus with pragmatic annotations - the first such resource for En→Hi.</a:t>
            </a:r>
            <a:endParaRPr lang="en-US" sz="1000" dirty="0"/>
          </a:p>
        </p:txBody>
      </p:sp>
      <p:sp>
        <p:nvSpPr>
          <p:cNvPr id="13" name="Shape 11"/>
          <p:cNvSpPr/>
          <p:nvPr/>
        </p:nvSpPr>
        <p:spPr>
          <a:xfrm>
            <a:off x="4617720" y="1078992"/>
            <a:ext cx="4069080" cy="1874520"/>
          </a:xfrm>
          <a:prstGeom prst="rect">
            <a:avLst/>
          </a:prstGeom>
          <a:solidFill>
            <a:srgbClr val="FFFFFF"/>
          </a:solidFill>
          <a:ln w="12700">
            <a:solidFill>
              <a:srgbClr val="D1D5DB"/>
            </a:solidFill>
            <a:prstDash val="solid"/>
          </a:ln>
          <a:effectLst>
            <a:outerShdw blurRad="50800" dist="12700" dir="8100000" algn="bl" rotWithShape="0">
              <a:srgbClr val="000000">
                <a:alpha val="7000"/>
              </a:srgbClr>
            </a:outerShdw>
          </a:effectLst>
        </p:spPr>
        <p:txBody>
          <a:bodyPr/>
          <a:lstStyle/>
          <a:p>
            <a:endParaRPr lang="en-IN"/>
          </a:p>
        </p:txBody>
      </p:sp>
      <p:sp>
        <p:nvSpPr>
          <p:cNvPr id="14" name="Shape 12"/>
          <p:cNvSpPr/>
          <p:nvPr/>
        </p:nvSpPr>
        <p:spPr>
          <a:xfrm>
            <a:off x="4617720" y="1078992"/>
            <a:ext cx="64008" cy="1874520"/>
          </a:xfrm>
          <a:prstGeom prst="rect">
            <a:avLst/>
          </a:prstGeom>
          <a:solidFill>
            <a:srgbClr val="2563A8"/>
          </a:solidFill>
          <a:ln w="12700">
            <a:solidFill>
              <a:srgbClr val="2563A8"/>
            </a:solidFill>
            <a:prstDash val="solid"/>
          </a:ln>
        </p:spPr>
        <p:txBody>
          <a:bodyPr/>
          <a:lstStyle/>
          <a:p>
            <a:endParaRPr lang="en-IN"/>
          </a:p>
        </p:txBody>
      </p:sp>
      <p:sp>
        <p:nvSpPr>
          <p:cNvPr id="15" name="Shape 13"/>
          <p:cNvSpPr/>
          <p:nvPr/>
        </p:nvSpPr>
        <p:spPr>
          <a:xfrm>
            <a:off x="4754880" y="1188720"/>
            <a:ext cx="329184" cy="329184"/>
          </a:xfrm>
          <a:prstGeom prst="ellipse">
            <a:avLst/>
          </a:prstGeom>
          <a:solidFill>
            <a:srgbClr val="1E3A5F"/>
          </a:solidFill>
          <a:ln w="12700">
            <a:solidFill>
              <a:srgbClr val="1E3A5F"/>
            </a:solidFill>
            <a:prstDash val="solid"/>
          </a:ln>
        </p:spPr>
        <p:txBody>
          <a:bodyPr/>
          <a:lstStyle/>
          <a:p>
            <a:endParaRPr lang="en-IN"/>
          </a:p>
        </p:txBody>
      </p:sp>
      <p:sp>
        <p:nvSpPr>
          <p:cNvPr id="16" name="Text 14"/>
          <p:cNvSpPr/>
          <p:nvPr/>
        </p:nvSpPr>
        <p:spPr>
          <a:xfrm>
            <a:off x="4754880" y="118872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Shape 15"/>
          <p:cNvSpPr/>
          <p:nvPr/>
        </p:nvSpPr>
        <p:spPr>
          <a:xfrm>
            <a:off x="5148072" y="1216152"/>
            <a:ext cx="548640" cy="201168"/>
          </a:xfrm>
          <a:prstGeom prst="rect">
            <a:avLst/>
          </a:prstGeom>
          <a:solidFill>
            <a:srgbClr val="DBEAFE"/>
          </a:solidFill>
          <a:ln w="12700">
            <a:solidFill>
              <a:srgbClr val="93C5FD"/>
            </a:solidFill>
            <a:prstDash val="solid"/>
          </a:ln>
        </p:spPr>
        <p:txBody>
          <a:bodyPr/>
          <a:lstStyle/>
          <a:p>
            <a:endParaRPr lang="en-IN"/>
          </a:p>
        </p:txBody>
      </p:sp>
      <p:sp>
        <p:nvSpPr>
          <p:cNvPr id="18" name="Text 16"/>
          <p:cNvSpPr/>
          <p:nvPr/>
        </p:nvSpPr>
        <p:spPr>
          <a:xfrm>
            <a:off x="5148072" y="1216152"/>
            <a:ext cx="548640" cy="201168"/>
          </a:xfrm>
          <a:prstGeom prst="rect">
            <a:avLst/>
          </a:prstGeom>
          <a:noFill/>
          <a:ln/>
        </p:spPr>
        <p:txBody>
          <a:bodyPr wrap="square" lIns="0" tIns="0" rIns="0" bIns="0" rtlCol="0" anchor="ctr"/>
          <a:lstStyle/>
          <a:p>
            <a:pPr marL="0" indent="0" algn="ctr">
              <a:buNone/>
            </a:pPr>
            <a:r>
              <a:rPr lang="en-US" sz="800" b="1" dirty="0">
                <a:solidFill>
                  <a:srgbClr val="2563A8"/>
                </a:solidFill>
                <a:latin typeface="Calibri" pitchFamily="34" charset="0"/>
                <a:ea typeface="Calibri" pitchFamily="34" charset="-122"/>
                <a:cs typeface="Calibri" pitchFamily="34" charset="-120"/>
              </a:rPr>
              <a:t>Novel</a:t>
            </a:r>
            <a:endParaRPr lang="en-US" sz="800" dirty="0"/>
          </a:p>
        </p:txBody>
      </p:sp>
      <p:sp>
        <p:nvSpPr>
          <p:cNvPr id="19" name="Text 17"/>
          <p:cNvSpPr/>
          <p:nvPr/>
        </p:nvSpPr>
        <p:spPr>
          <a:xfrm>
            <a:off x="4782312" y="1481328"/>
            <a:ext cx="3813048" cy="329184"/>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Control Token + Weighted Loss NMT</a:t>
            </a:r>
            <a:endParaRPr lang="en-US" sz="1200" dirty="0"/>
          </a:p>
        </p:txBody>
      </p:sp>
      <p:sp>
        <p:nvSpPr>
          <p:cNvPr id="20" name="Text 18"/>
          <p:cNvSpPr/>
          <p:nvPr/>
        </p:nvSpPr>
        <p:spPr>
          <a:xfrm>
            <a:off x="4782312" y="1810512"/>
            <a:ext cx="3813048" cy="1042416"/>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&lt;SARCASTIC&gt; / &lt;LITERAL&gt; tokens prepended to input condition a single MarianMT model on pragmatic type. Sarcastic examples receive 1.5× loss weight - preventing literal-data dominance without quality collapse.</a:t>
            </a:r>
            <a:endParaRPr lang="en-US" sz="1000" dirty="0"/>
          </a:p>
        </p:txBody>
      </p:sp>
      <p:sp>
        <p:nvSpPr>
          <p:cNvPr id="21" name="Shape 19"/>
          <p:cNvSpPr/>
          <p:nvPr/>
        </p:nvSpPr>
        <p:spPr>
          <a:xfrm>
            <a:off x="411480" y="3127248"/>
            <a:ext cx="4069080" cy="1874520"/>
          </a:xfrm>
          <a:prstGeom prst="rect">
            <a:avLst/>
          </a:prstGeom>
          <a:solidFill>
            <a:srgbClr val="FFFFFF"/>
          </a:solidFill>
          <a:ln w="12700">
            <a:solidFill>
              <a:srgbClr val="D1D5DB"/>
            </a:solidFill>
            <a:prstDash val="solid"/>
          </a:ln>
          <a:effectLst>
            <a:outerShdw blurRad="50800" dist="12700" dir="8100000" algn="bl" rotWithShape="0">
              <a:srgbClr val="000000">
                <a:alpha val="7000"/>
              </a:srgbClr>
            </a:outerShdw>
          </a:effectLst>
        </p:spPr>
        <p:txBody>
          <a:bodyPr/>
          <a:lstStyle/>
          <a:p>
            <a:endParaRPr lang="en-IN"/>
          </a:p>
        </p:txBody>
      </p:sp>
      <p:sp>
        <p:nvSpPr>
          <p:cNvPr id="22" name="Shape 20"/>
          <p:cNvSpPr/>
          <p:nvPr/>
        </p:nvSpPr>
        <p:spPr>
          <a:xfrm>
            <a:off x="411480" y="3127248"/>
            <a:ext cx="64008" cy="1874520"/>
          </a:xfrm>
          <a:prstGeom prst="rect">
            <a:avLst/>
          </a:prstGeom>
          <a:solidFill>
            <a:srgbClr val="2563A8"/>
          </a:solidFill>
          <a:ln w="12700">
            <a:solidFill>
              <a:srgbClr val="2563A8"/>
            </a:solidFill>
            <a:prstDash val="solid"/>
          </a:ln>
        </p:spPr>
        <p:txBody>
          <a:bodyPr/>
          <a:lstStyle/>
          <a:p>
            <a:endParaRPr lang="en-IN"/>
          </a:p>
        </p:txBody>
      </p:sp>
      <p:sp>
        <p:nvSpPr>
          <p:cNvPr id="23" name="Shape 21"/>
          <p:cNvSpPr/>
          <p:nvPr/>
        </p:nvSpPr>
        <p:spPr>
          <a:xfrm>
            <a:off x="548640" y="3236976"/>
            <a:ext cx="329184" cy="329184"/>
          </a:xfrm>
          <a:prstGeom prst="ellipse">
            <a:avLst/>
          </a:prstGeom>
          <a:solidFill>
            <a:srgbClr val="1E3A5F"/>
          </a:solidFill>
          <a:ln w="12700">
            <a:solidFill>
              <a:srgbClr val="1E3A5F"/>
            </a:solidFill>
            <a:prstDash val="solid"/>
          </a:ln>
        </p:spPr>
        <p:txBody>
          <a:bodyPr/>
          <a:lstStyle/>
          <a:p>
            <a:endParaRPr lang="en-IN"/>
          </a:p>
        </p:txBody>
      </p:sp>
      <p:sp>
        <p:nvSpPr>
          <p:cNvPr id="24" name="Text 22"/>
          <p:cNvSpPr/>
          <p:nvPr/>
        </p:nvSpPr>
        <p:spPr>
          <a:xfrm>
            <a:off x="548640" y="32369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5" name="Shape 23"/>
          <p:cNvSpPr/>
          <p:nvPr/>
        </p:nvSpPr>
        <p:spPr>
          <a:xfrm>
            <a:off x="941832" y="3264408"/>
            <a:ext cx="548640" cy="201168"/>
          </a:xfrm>
          <a:prstGeom prst="rect">
            <a:avLst/>
          </a:prstGeom>
          <a:solidFill>
            <a:srgbClr val="DBEAFE"/>
          </a:solidFill>
          <a:ln w="12700">
            <a:solidFill>
              <a:srgbClr val="93C5FD"/>
            </a:solidFill>
            <a:prstDash val="solid"/>
          </a:ln>
        </p:spPr>
        <p:txBody>
          <a:bodyPr/>
          <a:lstStyle/>
          <a:p>
            <a:endParaRPr lang="en-IN"/>
          </a:p>
        </p:txBody>
      </p:sp>
      <p:sp>
        <p:nvSpPr>
          <p:cNvPr id="26" name="Text 24"/>
          <p:cNvSpPr/>
          <p:nvPr/>
        </p:nvSpPr>
        <p:spPr>
          <a:xfrm>
            <a:off x="941832" y="3264408"/>
            <a:ext cx="548640" cy="201168"/>
          </a:xfrm>
          <a:prstGeom prst="rect">
            <a:avLst/>
          </a:prstGeom>
          <a:noFill/>
          <a:ln/>
        </p:spPr>
        <p:txBody>
          <a:bodyPr wrap="square" lIns="0" tIns="0" rIns="0" bIns="0" rtlCol="0" anchor="ctr"/>
          <a:lstStyle/>
          <a:p>
            <a:pPr marL="0" indent="0" algn="ctr">
              <a:buNone/>
            </a:pPr>
            <a:r>
              <a:rPr lang="en-US" sz="800" b="1" dirty="0">
                <a:solidFill>
                  <a:srgbClr val="2563A8"/>
                </a:solidFill>
                <a:latin typeface="Calibri" pitchFamily="34" charset="0"/>
                <a:ea typeface="Calibri" pitchFamily="34" charset="-122"/>
                <a:cs typeface="Calibri" pitchFamily="34" charset="-120"/>
              </a:rPr>
              <a:t>Novel</a:t>
            </a:r>
            <a:endParaRPr lang="en-US" sz="800" dirty="0"/>
          </a:p>
        </p:txBody>
      </p:sp>
      <p:sp>
        <p:nvSpPr>
          <p:cNvPr id="27" name="Text 25"/>
          <p:cNvSpPr/>
          <p:nvPr/>
        </p:nvSpPr>
        <p:spPr>
          <a:xfrm>
            <a:off x="576072" y="3529584"/>
            <a:ext cx="3813048" cy="329184"/>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Contrastive Pragmatic Alignment</a:t>
            </a:r>
            <a:endParaRPr lang="en-US" sz="1200" dirty="0"/>
          </a:p>
        </p:txBody>
      </p:sp>
      <p:sp>
        <p:nvSpPr>
          <p:cNvPr id="28" name="Text 26"/>
          <p:cNvSpPr/>
          <p:nvPr/>
        </p:nvSpPr>
        <p:spPr>
          <a:xfrm>
            <a:off x="576072" y="3858768"/>
            <a:ext cx="3813048" cy="1042416"/>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InfoNCE contrastive loss (inspired by CLIP/SimCLR) applied to encoder representations. Forces sarcastic and literal internal embeddings to become geometrically distinct - improving translation accuracy at a representational level.</a:t>
            </a:r>
            <a:endParaRPr lang="en-US" sz="1000" dirty="0"/>
          </a:p>
        </p:txBody>
      </p:sp>
      <p:sp>
        <p:nvSpPr>
          <p:cNvPr id="29" name="Shape 27"/>
          <p:cNvSpPr/>
          <p:nvPr/>
        </p:nvSpPr>
        <p:spPr>
          <a:xfrm>
            <a:off x="4617720" y="3127248"/>
            <a:ext cx="4069080" cy="1874520"/>
          </a:xfrm>
          <a:prstGeom prst="rect">
            <a:avLst/>
          </a:prstGeom>
          <a:solidFill>
            <a:srgbClr val="FFFFFF"/>
          </a:solidFill>
          <a:ln w="12700">
            <a:solidFill>
              <a:srgbClr val="D1D5DB"/>
            </a:solidFill>
            <a:prstDash val="solid"/>
          </a:ln>
          <a:effectLst>
            <a:outerShdw blurRad="50800" dist="12700" dir="8100000" algn="bl" rotWithShape="0">
              <a:srgbClr val="000000">
                <a:alpha val="7000"/>
              </a:srgbClr>
            </a:outerShdw>
          </a:effectLst>
        </p:spPr>
        <p:txBody>
          <a:bodyPr/>
          <a:lstStyle/>
          <a:p>
            <a:endParaRPr lang="en-IN"/>
          </a:p>
        </p:txBody>
      </p:sp>
      <p:sp>
        <p:nvSpPr>
          <p:cNvPr id="30" name="Shape 28"/>
          <p:cNvSpPr/>
          <p:nvPr/>
        </p:nvSpPr>
        <p:spPr>
          <a:xfrm>
            <a:off x="4617720" y="3127248"/>
            <a:ext cx="64008" cy="1874520"/>
          </a:xfrm>
          <a:prstGeom prst="rect">
            <a:avLst/>
          </a:prstGeom>
          <a:solidFill>
            <a:srgbClr val="2563A8"/>
          </a:solidFill>
          <a:ln w="12700">
            <a:solidFill>
              <a:srgbClr val="2563A8"/>
            </a:solidFill>
            <a:prstDash val="solid"/>
          </a:ln>
        </p:spPr>
        <p:txBody>
          <a:bodyPr/>
          <a:lstStyle/>
          <a:p>
            <a:endParaRPr lang="en-IN"/>
          </a:p>
        </p:txBody>
      </p:sp>
      <p:sp>
        <p:nvSpPr>
          <p:cNvPr id="31" name="Shape 29"/>
          <p:cNvSpPr/>
          <p:nvPr/>
        </p:nvSpPr>
        <p:spPr>
          <a:xfrm>
            <a:off x="4754880" y="3236976"/>
            <a:ext cx="329184" cy="329184"/>
          </a:xfrm>
          <a:prstGeom prst="ellipse">
            <a:avLst/>
          </a:prstGeom>
          <a:solidFill>
            <a:srgbClr val="1E3A5F"/>
          </a:solidFill>
          <a:ln w="12700">
            <a:solidFill>
              <a:srgbClr val="1E3A5F"/>
            </a:solidFill>
            <a:prstDash val="solid"/>
          </a:ln>
        </p:spPr>
        <p:txBody>
          <a:bodyPr/>
          <a:lstStyle/>
          <a:p>
            <a:endParaRPr lang="en-IN"/>
          </a:p>
        </p:txBody>
      </p:sp>
      <p:sp>
        <p:nvSpPr>
          <p:cNvPr id="32" name="Text 30"/>
          <p:cNvSpPr/>
          <p:nvPr/>
        </p:nvSpPr>
        <p:spPr>
          <a:xfrm>
            <a:off x="4754880" y="323697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3" name="Shape 31"/>
          <p:cNvSpPr/>
          <p:nvPr/>
        </p:nvSpPr>
        <p:spPr>
          <a:xfrm>
            <a:off x="5148072" y="3264408"/>
            <a:ext cx="548640" cy="201168"/>
          </a:xfrm>
          <a:prstGeom prst="rect">
            <a:avLst/>
          </a:prstGeom>
          <a:solidFill>
            <a:srgbClr val="DBEAFE"/>
          </a:solidFill>
          <a:ln w="12700">
            <a:solidFill>
              <a:srgbClr val="93C5FD"/>
            </a:solidFill>
            <a:prstDash val="solid"/>
          </a:ln>
        </p:spPr>
        <p:txBody>
          <a:bodyPr/>
          <a:lstStyle/>
          <a:p>
            <a:endParaRPr lang="en-IN"/>
          </a:p>
        </p:txBody>
      </p:sp>
      <p:sp>
        <p:nvSpPr>
          <p:cNvPr id="34" name="Text 32"/>
          <p:cNvSpPr/>
          <p:nvPr/>
        </p:nvSpPr>
        <p:spPr>
          <a:xfrm>
            <a:off x="5148072" y="3264408"/>
            <a:ext cx="548640" cy="201168"/>
          </a:xfrm>
          <a:prstGeom prst="rect">
            <a:avLst/>
          </a:prstGeom>
          <a:noFill/>
          <a:ln/>
        </p:spPr>
        <p:txBody>
          <a:bodyPr wrap="square" lIns="0" tIns="0" rIns="0" bIns="0" rtlCol="0" anchor="ctr"/>
          <a:lstStyle/>
          <a:p>
            <a:pPr marL="0" indent="0" algn="ctr">
              <a:buNone/>
            </a:pPr>
            <a:r>
              <a:rPr lang="en-US" sz="800" b="1" dirty="0">
                <a:solidFill>
                  <a:srgbClr val="2563A8"/>
                </a:solidFill>
                <a:latin typeface="Calibri" pitchFamily="34" charset="0"/>
                <a:ea typeface="Calibri" pitchFamily="34" charset="-122"/>
                <a:cs typeface="Calibri" pitchFamily="34" charset="-120"/>
              </a:rPr>
              <a:t>Novel</a:t>
            </a:r>
            <a:endParaRPr lang="en-US" sz="800" dirty="0"/>
          </a:p>
        </p:txBody>
      </p:sp>
      <p:sp>
        <p:nvSpPr>
          <p:cNvPr id="35" name="Text 33"/>
          <p:cNvSpPr/>
          <p:nvPr/>
        </p:nvSpPr>
        <p:spPr>
          <a:xfrm>
            <a:off x="4782312" y="3529584"/>
            <a:ext cx="3813048" cy="329184"/>
          </a:xfrm>
          <a:prstGeom prst="rect">
            <a:avLst/>
          </a:prstGeom>
          <a:noFill/>
          <a:ln/>
        </p:spPr>
        <p:txBody>
          <a:bodyPr wrap="square" lIns="0" tIns="0" rIns="0" bIns="0" rtlCol="0" anchor="ctr"/>
          <a:lstStyle/>
          <a:p>
            <a:pPr marL="0" indent="0">
              <a:buNone/>
            </a:pPr>
            <a:r>
              <a:rPr lang="en-US" sz="1200" b="1" dirty="0">
                <a:solidFill>
                  <a:srgbClr val="1E3A5F"/>
                </a:solidFill>
                <a:latin typeface="Calibri" pitchFamily="34" charset="0"/>
                <a:ea typeface="Calibri" pitchFamily="34" charset="-122"/>
                <a:cs typeface="Calibri" pitchFamily="34" charset="-120"/>
              </a:rPr>
              <a:t>RL from Pragmatic Feedback (RLPF)</a:t>
            </a:r>
            <a:endParaRPr lang="en-US" sz="1200" dirty="0"/>
          </a:p>
        </p:txBody>
      </p:sp>
      <p:sp>
        <p:nvSpPr>
          <p:cNvPr id="36" name="Text 34"/>
          <p:cNvSpPr/>
          <p:nvPr/>
        </p:nvSpPr>
        <p:spPr>
          <a:xfrm>
            <a:off x="4782312" y="3858768"/>
            <a:ext cx="3813048" cy="1042416"/>
          </a:xfrm>
          <a:prstGeom prst="rect">
            <a:avLst/>
          </a:prstGeom>
          <a:noFill/>
          <a:ln/>
        </p:spPr>
        <p:txBody>
          <a:bodyPr wrap="square" lIns="0" tIns="0" rIns="0" bIns="0" rtlCol="0" anchor="ctr"/>
          <a:lstStyle/>
          <a:p>
            <a:pPr marL="0" indent="0">
              <a:buNone/>
            </a:pPr>
            <a:r>
              <a:rPr lang="en-US" sz="1000" dirty="0">
                <a:solidFill>
                  <a:srgbClr val="475569"/>
                </a:solidFill>
                <a:latin typeface="Calibri" pitchFamily="34" charset="0"/>
                <a:ea typeface="Calibri" pitchFamily="34" charset="-122"/>
                <a:cs typeface="Calibri" pitchFamily="34" charset="-120"/>
              </a:rPr>
              <a:t>REINFORCE-style policy gradient using Pragmatic Divergence Score (multilingual cosine similarity) as reward. Directly optimises for intent preservation - not word matching - with a KL penalty to prevent degenerate outputs.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60120"/>
          </a:xfrm>
          <a:prstGeom prst="rect">
            <a:avLst/>
          </a:prstGeom>
          <a:solidFill>
            <a:srgbClr val="1E3A5F"/>
          </a:solidFill>
          <a:ln w="12700">
            <a:solidFill>
              <a:srgbClr val="1E3A5F"/>
            </a:solidFill>
            <a:prstDash val="solid"/>
          </a:ln>
        </p:spPr>
        <p:txBody>
          <a:bodyPr/>
          <a:lstStyle/>
          <a:p>
            <a:endParaRPr lang="en-IN"/>
          </a:p>
        </p:txBody>
      </p:sp>
      <p:sp>
        <p:nvSpPr>
          <p:cNvPr id="3" name="Text 1"/>
          <p:cNvSpPr/>
          <p:nvPr/>
        </p:nvSpPr>
        <p:spPr>
          <a:xfrm>
            <a:off x="411480" y="73152"/>
            <a:ext cx="6858000" cy="530352"/>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Results &amp; Conclusion</a:t>
            </a:r>
            <a:endParaRPr lang="en-US" sz="2600" dirty="0"/>
          </a:p>
        </p:txBody>
      </p:sp>
      <p:sp>
        <p:nvSpPr>
          <p:cNvPr id="4" name="Text 2"/>
          <p:cNvSpPr/>
          <p:nvPr/>
        </p:nvSpPr>
        <p:spPr>
          <a:xfrm>
            <a:off x="411480" y="594360"/>
            <a:ext cx="8321040" cy="310896"/>
          </a:xfrm>
          <a:prstGeom prst="rect">
            <a:avLst/>
          </a:prstGeom>
          <a:noFill/>
          <a:ln/>
        </p:spPr>
        <p:txBody>
          <a:bodyPr wrap="square" lIns="0" tIns="0" rIns="0" bIns="0" rtlCol="0" anchor="ctr"/>
          <a:lstStyle/>
          <a:p>
            <a:pPr marL="0" indent="0">
              <a:buNone/>
            </a:pPr>
            <a:r>
              <a:rPr lang="en-US" sz="1200" dirty="0">
                <a:solidFill>
                  <a:srgbClr val="DBEAFE"/>
                </a:solidFill>
                <a:latin typeface="Calibri" pitchFamily="34" charset="0"/>
                <a:ea typeface="Calibri" pitchFamily="34" charset="-122"/>
                <a:cs typeface="Calibri" pitchFamily="34" charset="-120"/>
              </a:rPr>
              <a:t>Measurable pragmatic gains with no trade-off in translation quality</a:t>
            </a:r>
            <a:endParaRPr lang="en-US" sz="1200" dirty="0"/>
          </a:p>
        </p:txBody>
      </p:sp>
      <p:sp>
        <p:nvSpPr>
          <p:cNvPr id="5" name="Text 3"/>
          <p:cNvSpPr/>
          <p:nvPr/>
        </p:nvSpPr>
        <p:spPr>
          <a:xfrm>
            <a:off x="411480" y="1078992"/>
            <a:ext cx="4937760" cy="292608"/>
          </a:xfrm>
          <a:prstGeom prst="rect">
            <a:avLst/>
          </a:prstGeom>
          <a:noFill/>
          <a:ln/>
        </p:spPr>
        <p:txBody>
          <a:bodyPr wrap="square" lIns="0" tIns="0" rIns="0" bIns="0"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Key Metrics - Sarcastic Subset</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3970817776"/>
              </p:ext>
            </p:extLst>
          </p:nvPr>
        </p:nvGraphicFramePr>
        <p:xfrm>
          <a:off x="411480" y="1408176"/>
          <a:ext cx="4945380" cy="1965960"/>
        </p:xfrm>
        <a:graphic>
          <a:graphicData uri="http://schemas.openxmlformats.org/drawingml/2006/table">
            <a:tbl>
              <a:tblPr/>
              <a:tblGrid>
                <a:gridCol w="1782403">
                  <a:extLst>
                    <a:ext uri="{9D8B030D-6E8A-4147-A177-3AD203B41FA5}">
                      <a16:colId xmlns:a16="http://schemas.microsoft.com/office/drawing/2014/main" val="20000"/>
                    </a:ext>
                  </a:extLst>
                </a:gridCol>
                <a:gridCol w="755057">
                  <a:extLst>
                    <a:ext uri="{9D8B030D-6E8A-4147-A177-3AD203B41FA5}">
                      <a16:colId xmlns:a16="http://schemas.microsoft.com/office/drawing/2014/main" val="20001"/>
                    </a:ext>
                  </a:extLst>
                </a:gridCol>
                <a:gridCol w="1211580">
                  <a:extLst>
                    <a:ext uri="{9D8B030D-6E8A-4147-A177-3AD203B41FA5}">
                      <a16:colId xmlns:a16="http://schemas.microsoft.com/office/drawing/2014/main" val="20002"/>
                    </a:ext>
                  </a:extLst>
                </a:gridCol>
                <a:gridCol w="1196340">
                  <a:extLst>
                    <a:ext uri="{9D8B030D-6E8A-4147-A177-3AD203B41FA5}">
                      <a16:colId xmlns:a16="http://schemas.microsoft.com/office/drawing/2014/main" val="20003"/>
                    </a:ext>
                  </a:extLst>
                </a:gridCol>
              </a:tblGrid>
              <a:tr h="393192">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Baseline</a:t>
                      </a:r>
                      <a:endParaRPr lang="en-US" sz="11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Pragmatic-Aware</a:t>
                      </a:r>
                      <a:endParaRPr lang="en-US" sz="11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5F"/>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RL</a:t>
                      </a:r>
                      <a:endParaRPr lang="en-US" sz="11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39319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BLEU (IITB test)</a:t>
                      </a:r>
                      <a:endParaRPr lang="en-US" sz="11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64.82</a:t>
                      </a:r>
                      <a:endParaRPr lang="en-US" sz="11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74.68 + 9.86↑</a:t>
                      </a:r>
                      <a:endParaRPr lang="en-US" sz="11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70.43 + 5.61↑ </a:t>
                      </a:r>
                      <a:endParaRPr lang="en-US" sz="11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1"/>
                  </a:ext>
                </a:extLst>
              </a:tr>
              <a:tr h="39319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Sentiment Preservation</a:t>
                      </a:r>
                      <a:endParaRPr lang="en-US" sz="11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54.21%</a:t>
                      </a:r>
                      <a:endParaRPr lang="en-US" sz="11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latin typeface="Calibri" pitchFamily="34" charset="0"/>
                          <a:ea typeface="Calibri" pitchFamily="34" charset="-122"/>
                          <a:cs typeface="Calibri" pitchFamily="34" charset="-120"/>
                        </a:rPr>
                        <a:t>61.05% +6.84%↑</a:t>
                      </a:r>
                      <a:endParaRPr lang="en-US" sz="11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59.47% +5.26%↑</a:t>
                      </a:r>
                      <a:endParaRPr lang="en-US" sz="11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39319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Pragmatic Sim. (PDS)</a:t>
                      </a:r>
                      <a:endParaRPr lang="en-US" sz="11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0.6877</a:t>
                      </a:r>
                      <a:endParaRPr lang="en-US" sz="11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latin typeface="Calibri" pitchFamily="34" charset="0"/>
                          <a:ea typeface="Calibri" pitchFamily="34" charset="-122"/>
                          <a:cs typeface="Calibri" pitchFamily="34" charset="-120"/>
                        </a:rPr>
                        <a:t>0.7037 +0.016↑</a:t>
                      </a:r>
                      <a:endParaRPr lang="en-US" sz="11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0.5819 -0.1058↓ </a:t>
                      </a:r>
                      <a:endParaRPr lang="en-US" sz="11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3"/>
                  </a:ext>
                </a:extLst>
              </a:tr>
              <a:tr h="393192">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Sentiment Divergence ↓</a:t>
                      </a:r>
                      <a:endParaRPr lang="en-US" sz="11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0.1615</a:t>
                      </a:r>
                      <a:endParaRPr lang="en-US" sz="11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solidFill>
                            <a:srgbClr val="000000"/>
                          </a:solidFill>
                          <a:latin typeface="Calibri" pitchFamily="34" charset="0"/>
                          <a:ea typeface="Calibri" pitchFamily="34" charset="-122"/>
                          <a:cs typeface="Calibri" pitchFamily="34" charset="-120"/>
                        </a:rPr>
                        <a:t>0.1553 −0.006✓</a:t>
                      </a:r>
                      <a:endParaRPr lang="en-US" sz="11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0.1618 +0.0003</a:t>
                      </a:r>
                      <a:endParaRPr lang="en-US" sz="1100" dirty="0">
                        <a:latin typeface="Calibri" charset="0"/>
                        <a:ea typeface="Calibri" charset="0"/>
                        <a:cs typeface="Calibri" charset="0"/>
                      </a:endParaRPr>
                    </a:p>
                  </a:txBody>
                  <a:tcPr>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8FAFC"/>
                    </a:solidFill>
                  </a:tcPr>
                </a:tc>
                <a:extLst>
                  <a:ext uri="{0D108BD9-81ED-4DB2-BD59-A6C34878D82A}">
                    <a16:rowId xmlns:a16="http://schemas.microsoft.com/office/drawing/2014/main" val="10004"/>
                  </a:ext>
                </a:extLst>
              </a:tr>
            </a:tbl>
          </a:graphicData>
        </a:graphic>
      </p:graphicFrame>
      <p:sp>
        <p:nvSpPr>
          <p:cNvPr id="7" name="Shape 4"/>
          <p:cNvSpPr/>
          <p:nvPr/>
        </p:nvSpPr>
        <p:spPr>
          <a:xfrm>
            <a:off x="411480" y="3456432"/>
            <a:ext cx="4937760" cy="502920"/>
          </a:xfrm>
          <a:prstGeom prst="rect">
            <a:avLst/>
          </a:prstGeom>
          <a:solidFill>
            <a:srgbClr val="F0F9FF"/>
          </a:solidFill>
          <a:ln w="12700">
            <a:solidFill>
              <a:srgbClr val="7DD3FC"/>
            </a:solidFill>
            <a:prstDash val="solid"/>
          </a:ln>
        </p:spPr>
        <p:txBody>
          <a:bodyPr/>
          <a:lstStyle/>
          <a:p>
            <a:endParaRPr lang="en-IN"/>
          </a:p>
        </p:txBody>
      </p:sp>
      <p:sp>
        <p:nvSpPr>
          <p:cNvPr id="8" name="Text 5"/>
          <p:cNvSpPr/>
          <p:nvPr/>
        </p:nvSpPr>
        <p:spPr>
          <a:xfrm>
            <a:off x="530352" y="3502152"/>
            <a:ext cx="4736592" cy="411480"/>
          </a:xfrm>
          <a:prstGeom prst="rect">
            <a:avLst/>
          </a:prstGeom>
          <a:noFill/>
          <a:ln/>
        </p:spPr>
        <p:txBody>
          <a:bodyPr wrap="square" lIns="0" tIns="0" rIns="0" bIns="0" rtlCol="0" anchor="ctr"/>
          <a:lstStyle/>
          <a:p>
            <a:pPr marL="0" indent="0">
              <a:buNone/>
            </a:pPr>
            <a:r>
              <a:rPr lang="en-US" sz="1000" i="1" dirty="0">
                <a:solidFill>
                  <a:srgbClr val="1E3A5F"/>
                </a:solidFill>
                <a:latin typeface="Calibri" pitchFamily="34" charset="0"/>
                <a:ea typeface="Calibri" pitchFamily="34" charset="-122"/>
                <a:cs typeface="Calibri" pitchFamily="34" charset="-120"/>
              </a:rPr>
              <a:t>RL-enhanced model excels on hard cases - successfully flipping sentiment on sarcastic examples where both baseline and pragmatic models fail.</a:t>
            </a:r>
            <a:endParaRPr lang="en-US" sz="1000" dirty="0"/>
          </a:p>
        </p:txBody>
      </p:sp>
      <p:sp>
        <p:nvSpPr>
          <p:cNvPr id="9" name="Shape 6"/>
          <p:cNvSpPr/>
          <p:nvPr/>
        </p:nvSpPr>
        <p:spPr>
          <a:xfrm>
            <a:off x="5532120" y="1078992"/>
            <a:ext cx="3200400" cy="3401568"/>
          </a:xfrm>
          <a:prstGeom prst="rect">
            <a:avLst/>
          </a:prstGeom>
          <a:solidFill>
            <a:srgbClr val="F4F6F9"/>
          </a:solidFill>
          <a:ln w="12700">
            <a:solidFill>
              <a:srgbClr val="D1D5DB"/>
            </a:solidFill>
            <a:prstDash val="solid"/>
          </a:ln>
          <a:effectLst>
            <a:outerShdw blurRad="50800" dist="12700" dir="8100000" algn="bl" rotWithShape="0">
              <a:srgbClr val="000000">
                <a:alpha val="7000"/>
              </a:srgbClr>
            </a:outerShdw>
          </a:effectLst>
        </p:spPr>
        <p:txBody>
          <a:bodyPr/>
          <a:lstStyle/>
          <a:p>
            <a:endParaRPr lang="en-IN"/>
          </a:p>
        </p:txBody>
      </p:sp>
      <p:sp>
        <p:nvSpPr>
          <p:cNvPr id="10" name="Text 7"/>
          <p:cNvSpPr/>
          <p:nvPr/>
        </p:nvSpPr>
        <p:spPr>
          <a:xfrm>
            <a:off x="5669280" y="1170432"/>
            <a:ext cx="2926080" cy="310896"/>
          </a:xfrm>
          <a:prstGeom prst="rect">
            <a:avLst/>
          </a:prstGeom>
          <a:noFill/>
          <a:ln/>
        </p:spPr>
        <p:txBody>
          <a:bodyPr wrap="square" lIns="0" tIns="0" rIns="0" bIns="0" rtlCol="0" anchor="ctr"/>
          <a:lstStyle/>
          <a:p>
            <a:pPr marL="0" indent="0">
              <a:buNone/>
            </a:pPr>
            <a:r>
              <a:rPr lang="en-US" sz="1300" b="1" dirty="0">
                <a:solidFill>
                  <a:srgbClr val="1E3A5F"/>
                </a:solidFill>
                <a:latin typeface="Calibri" pitchFamily="34" charset="0"/>
                <a:ea typeface="Calibri" pitchFamily="34" charset="-122"/>
                <a:cs typeface="Calibri" pitchFamily="34" charset="-120"/>
              </a:rPr>
              <a:t>Conclusions</a:t>
            </a:r>
            <a:endParaRPr lang="en-US" sz="1300" dirty="0"/>
          </a:p>
        </p:txBody>
      </p:sp>
      <p:sp>
        <p:nvSpPr>
          <p:cNvPr id="11" name="Shape 8"/>
          <p:cNvSpPr/>
          <p:nvPr/>
        </p:nvSpPr>
        <p:spPr>
          <a:xfrm>
            <a:off x="5650992" y="1591056"/>
            <a:ext cx="128016" cy="128016"/>
          </a:xfrm>
          <a:prstGeom prst="ellipse">
            <a:avLst/>
          </a:prstGeom>
          <a:solidFill>
            <a:srgbClr val="2563A8"/>
          </a:solidFill>
          <a:ln w="12700">
            <a:solidFill>
              <a:srgbClr val="2563A8"/>
            </a:solidFill>
            <a:prstDash val="solid"/>
          </a:ln>
        </p:spPr>
        <p:txBody>
          <a:bodyPr/>
          <a:lstStyle/>
          <a:p>
            <a:endParaRPr lang="en-IN"/>
          </a:p>
        </p:txBody>
      </p:sp>
      <p:sp>
        <p:nvSpPr>
          <p:cNvPr id="12" name="Text 9"/>
          <p:cNvSpPr/>
          <p:nvPr/>
        </p:nvSpPr>
        <p:spPr>
          <a:xfrm>
            <a:off x="5833872" y="1536192"/>
            <a:ext cx="2761488" cy="53035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Pragmatic-aware training improves all metrics simultaneously - sarcasm conditioning strengthens, not harms, general translation quality.</a:t>
            </a:r>
            <a:endParaRPr lang="en-US" sz="1000" dirty="0"/>
          </a:p>
        </p:txBody>
      </p:sp>
      <p:sp>
        <p:nvSpPr>
          <p:cNvPr id="13" name="Shape 10"/>
          <p:cNvSpPr/>
          <p:nvPr/>
        </p:nvSpPr>
        <p:spPr>
          <a:xfrm>
            <a:off x="5650992" y="2157984"/>
            <a:ext cx="128016" cy="128016"/>
          </a:xfrm>
          <a:prstGeom prst="ellipse">
            <a:avLst/>
          </a:prstGeom>
          <a:solidFill>
            <a:srgbClr val="2563A8"/>
          </a:solidFill>
          <a:ln w="12700">
            <a:solidFill>
              <a:srgbClr val="2563A8"/>
            </a:solidFill>
            <a:prstDash val="solid"/>
          </a:ln>
        </p:spPr>
        <p:txBody>
          <a:bodyPr/>
          <a:lstStyle/>
          <a:p>
            <a:endParaRPr lang="en-IN"/>
          </a:p>
        </p:txBody>
      </p:sp>
      <p:sp>
        <p:nvSpPr>
          <p:cNvPr id="14" name="Text 11"/>
          <p:cNvSpPr/>
          <p:nvPr/>
        </p:nvSpPr>
        <p:spPr>
          <a:xfrm>
            <a:off x="5833872" y="2103120"/>
            <a:ext cx="2761488" cy="53035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Control tokens + weighted loss provide a lightweight, reproducible method deployable on free GPU resources.</a:t>
            </a:r>
            <a:endParaRPr lang="en-US" sz="1000" dirty="0"/>
          </a:p>
        </p:txBody>
      </p:sp>
      <p:sp>
        <p:nvSpPr>
          <p:cNvPr id="15" name="Shape 12"/>
          <p:cNvSpPr/>
          <p:nvPr/>
        </p:nvSpPr>
        <p:spPr>
          <a:xfrm>
            <a:off x="5650992" y="2724912"/>
            <a:ext cx="128016" cy="128016"/>
          </a:xfrm>
          <a:prstGeom prst="ellipse">
            <a:avLst/>
          </a:prstGeom>
          <a:solidFill>
            <a:srgbClr val="2563A8"/>
          </a:solidFill>
          <a:ln w="12700">
            <a:solidFill>
              <a:srgbClr val="2563A8"/>
            </a:solidFill>
            <a:prstDash val="solid"/>
          </a:ln>
        </p:spPr>
        <p:txBody>
          <a:bodyPr/>
          <a:lstStyle/>
          <a:p>
            <a:endParaRPr lang="en-IN"/>
          </a:p>
        </p:txBody>
      </p:sp>
      <p:sp>
        <p:nvSpPr>
          <p:cNvPr id="16" name="Text 13"/>
          <p:cNvSpPr/>
          <p:nvPr/>
        </p:nvSpPr>
        <p:spPr>
          <a:xfrm>
            <a:off x="5833872" y="2670048"/>
            <a:ext cx="2761488" cy="53035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Contrastive alignment and RLPF represent novel adaptations from vision and dialogue AI to translation.</a:t>
            </a:r>
            <a:endParaRPr lang="en-US" sz="1000" dirty="0"/>
          </a:p>
        </p:txBody>
      </p:sp>
      <p:sp>
        <p:nvSpPr>
          <p:cNvPr id="17" name="Shape 14"/>
          <p:cNvSpPr/>
          <p:nvPr/>
        </p:nvSpPr>
        <p:spPr>
          <a:xfrm>
            <a:off x="5650992" y="3291840"/>
            <a:ext cx="128016" cy="128016"/>
          </a:xfrm>
          <a:prstGeom prst="ellipse">
            <a:avLst/>
          </a:prstGeom>
          <a:solidFill>
            <a:srgbClr val="2563A8"/>
          </a:solidFill>
          <a:ln w="12700">
            <a:solidFill>
              <a:srgbClr val="2563A8"/>
            </a:solidFill>
            <a:prstDash val="solid"/>
          </a:ln>
        </p:spPr>
        <p:txBody>
          <a:bodyPr/>
          <a:lstStyle/>
          <a:p>
            <a:endParaRPr lang="en-IN"/>
          </a:p>
        </p:txBody>
      </p:sp>
      <p:sp>
        <p:nvSpPr>
          <p:cNvPr id="18" name="Text 15"/>
          <p:cNvSpPr/>
          <p:nvPr/>
        </p:nvSpPr>
        <p:spPr>
          <a:xfrm>
            <a:off x="5833872" y="3236976"/>
            <a:ext cx="2761488" cy="53035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Pragmatic Divergence Score (PDS) is proposed as a reusable cross-lingual metric for intent preservation.</a:t>
            </a:r>
            <a:endParaRPr lang="en-US" sz="1000" dirty="0"/>
          </a:p>
        </p:txBody>
      </p:sp>
      <p:sp>
        <p:nvSpPr>
          <p:cNvPr id="19" name="Shape 16"/>
          <p:cNvSpPr/>
          <p:nvPr/>
        </p:nvSpPr>
        <p:spPr>
          <a:xfrm>
            <a:off x="5650992" y="3858768"/>
            <a:ext cx="128016" cy="128016"/>
          </a:xfrm>
          <a:prstGeom prst="ellipse">
            <a:avLst/>
          </a:prstGeom>
          <a:solidFill>
            <a:srgbClr val="2563A8"/>
          </a:solidFill>
          <a:ln w="12700">
            <a:solidFill>
              <a:srgbClr val="2563A8"/>
            </a:solidFill>
            <a:prstDash val="solid"/>
          </a:ln>
        </p:spPr>
        <p:txBody>
          <a:bodyPr/>
          <a:lstStyle/>
          <a:p>
            <a:endParaRPr lang="en-IN"/>
          </a:p>
        </p:txBody>
      </p:sp>
      <p:sp>
        <p:nvSpPr>
          <p:cNvPr id="20" name="Text 17"/>
          <p:cNvSpPr/>
          <p:nvPr/>
        </p:nvSpPr>
        <p:spPr>
          <a:xfrm>
            <a:off x="5833872" y="3803904"/>
            <a:ext cx="2761488" cy="530352"/>
          </a:xfrm>
          <a:prstGeom prst="rect">
            <a:avLst/>
          </a:prstGeom>
          <a:noFill/>
          <a:ln/>
        </p:spPr>
        <p:txBody>
          <a:bodyPr wrap="square" lIns="0" tIns="0" rIns="0" bIns="0" rtlCol="0" anchor="ctr"/>
          <a:lstStyle/>
          <a:p>
            <a:pPr marL="0" indent="0">
              <a:buNone/>
            </a:pPr>
            <a:r>
              <a:rPr lang="en-US" sz="1000" dirty="0">
                <a:solidFill>
                  <a:srgbClr val="1E293B"/>
                </a:solidFill>
                <a:latin typeface="Calibri" pitchFamily="34" charset="0"/>
                <a:ea typeface="Calibri" pitchFamily="34" charset="-122"/>
                <a:cs typeface="Calibri" pitchFamily="34" charset="-120"/>
              </a:rPr>
              <a:t>Techniques are model-agnostic - directly applicable to mBART, NLLB, or future architectures.</a:t>
            </a:r>
            <a:endParaRPr lang="en-US" sz="1000" dirty="0"/>
          </a:p>
        </p:txBody>
      </p:sp>
      <p:sp>
        <p:nvSpPr>
          <p:cNvPr id="21" name="Shape 18"/>
          <p:cNvSpPr/>
          <p:nvPr/>
        </p:nvSpPr>
        <p:spPr>
          <a:xfrm>
            <a:off x="0" y="4892040"/>
            <a:ext cx="9144000" cy="251460"/>
          </a:xfrm>
          <a:prstGeom prst="rect">
            <a:avLst/>
          </a:prstGeom>
          <a:solidFill>
            <a:srgbClr val="1E3A5F"/>
          </a:solidFill>
          <a:ln w="12700">
            <a:solidFill>
              <a:srgbClr val="1E3A5F"/>
            </a:solidFill>
            <a:prstDash val="solid"/>
          </a:ln>
        </p:spPr>
        <p:txBody>
          <a:bodyPr/>
          <a:lstStyle/>
          <a:p>
            <a:endParaRPr lang="en-IN"/>
          </a:p>
        </p:txBody>
      </p:sp>
      <p:sp>
        <p:nvSpPr>
          <p:cNvPr id="22" name="Text 19"/>
          <p:cNvSpPr/>
          <p:nvPr/>
        </p:nvSpPr>
        <p:spPr>
          <a:xfrm>
            <a:off x="274320" y="4901184"/>
            <a:ext cx="8595360" cy="228600"/>
          </a:xfrm>
          <a:prstGeom prst="rect">
            <a:avLst/>
          </a:prstGeom>
          <a:noFill/>
          <a:ln/>
        </p:spPr>
        <p:txBody>
          <a:bodyPr wrap="square" lIns="0" tIns="0" rIns="0" bIns="0" rtlCol="0" anchor="ctr"/>
          <a:lstStyle/>
          <a:p>
            <a:pPr marL="0" indent="0" algn="ctr">
              <a:buNone/>
            </a:pPr>
            <a:r>
              <a:rPr lang="en-US" sz="950" dirty="0">
                <a:solidFill>
                  <a:srgbClr val="DBEAFE"/>
                </a:solidFill>
                <a:latin typeface="Calibri" pitchFamily="34" charset="0"/>
                <a:ea typeface="Calibri" pitchFamily="34" charset="-122"/>
                <a:cs typeface="Calibri" pitchFamily="34" charset="-120"/>
              </a:rPr>
              <a:t>Pragmatic Signal-Aware NMT  ·  2025  ·  Full pipeline available for replication on Google Colab (free tier)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2453</Words>
  <Application>Microsoft Office PowerPoint</Application>
  <PresentationFormat>On-screen Show (16:9)</PresentationFormat>
  <Paragraphs>129</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Pragmatic Signal-Aware Neural Machine Translation</dc:title>
  <dc:subject>PptxGenJS Presentation</dc:subject>
  <dc:creator>PptxGenJS</dc:creator>
  <cp:lastModifiedBy>Aadit Kumar Sahoo</cp:lastModifiedBy>
  <cp:revision>4</cp:revision>
  <dcterms:created xsi:type="dcterms:W3CDTF">2026-04-21T18:21:52Z</dcterms:created>
  <dcterms:modified xsi:type="dcterms:W3CDTF">2026-04-21T23:51:50Z</dcterms:modified>
</cp:coreProperties>
</file>